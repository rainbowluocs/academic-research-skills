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FLOPs (T)</c:v>
                </c:pt>
              </c:strCache>
            </c:strRef>
          </c:tx>
          <c:spPr>
            <a:solidFill>
              <a:srgbClr val="2770B1"/>
            </a:solidFill>
            <a:ln>
              <a:solidFill>
                <a:srgbClr val="2770B1"/>
              </a:solidFill>
            </a:ln>
          </c:spPr>
          <c:cat>
            <c:strRef>
              <c:f>Sheet1!$A$2:$A$4</c:f>
              <c:strCache>
                <c:ptCount val="3"/>
                <c:pt idx="0">
                  <c:v>Baseline
576</c:v>
                </c:pt>
                <c:pt idx="1">
                  <c:v>VCM
128</c:v>
                </c:pt>
                <c:pt idx="2">
                  <c:v>VCM
64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4.62</c:v>
                </c:pt>
                <c:pt idx="1">
                  <c:v>1.71</c:v>
                </c:pt>
                <c:pt idx="2">
                  <c:v>1.24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D677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>
          <c:spPr>
            <a:ln>
              <a:solidFill>
                <a:srgbClr val="E0E5E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/>
                </a:pPr>
                <a:r>
                  <a:t>FLOPs (T)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solidFill>
              <a:srgbClr val="5D677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(%)</c:v>
                </c:pt>
              </c:strCache>
            </c:strRef>
          </c:tx>
          <c:spPr>
            <a:solidFill>
              <a:srgbClr val="2770B1"/>
            </a:solidFill>
            <a:ln>
              <a:solidFill>
                <a:srgbClr val="2770B1"/>
              </a:solidFill>
            </a:ln>
          </c:spPr>
          <c:dPt>
            <c:idx val="5"/>
            <c:spPr>
              <a:solidFill>
                <a:srgbClr val="CE2636"/>
              </a:solidFill>
              <a:ln>
                <a:solidFill>
                  <a:srgbClr val="CE2636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FastV
192</c:v>
                </c:pt>
                <c:pt idx="1">
                  <c:v>PDrop
192</c:v>
                </c:pt>
                <c:pt idx="2">
                  <c:v>SparseVLM
192</c:v>
                </c:pt>
                <c:pt idx="3">
                  <c:v>VisionZip
192</c:v>
                </c:pt>
                <c:pt idx="4">
                  <c:v>LLaVA
576</c:v>
                </c:pt>
                <c:pt idx="5">
                  <c:v>VCM
144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53.1</c:v>
                </c:pt>
                <c:pt idx="1">
                  <c:v>57.8</c:v>
                </c:pt>
                <c:pt idx="2">
                  <c:v>57.9</c:v>
                </c:pt>
                <c:pt idx="3">
                  <c:v>59.1</c:v>
                </c:pt>
                <c:pt idx="4">
                  <c:v>59.5</c:v>
                </c:pt>
                <c:pt idx="5">
                  <c:v>60.8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D677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0"/>
          <c:min val="50.0"/>
        </c:scaling>
        <c:delete val="0"/>
        <c:axPos val="l"/>
        <c:majorGridlines>
          <c:spPr>
            <a:ln>
              <a:solidFill>
                <a:srgbClr val="E0E5EA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5D677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w/o VCM</c:v>
                </c:pt>
              </c:strCache>
            </c:strRef>
          </c:tx>
          <c:spPr>
            <a:solidFill>
              <a:srgbClr val="AFB7BF"/>
            </a:solidFill>
            <a:ln>
              <a:solidFill>
                <a:srgbClr val="AFB7BF"/>
              </a:solidFill>
            </a:ln>
          </c:spPr>
          <c:cat>
            <c:strRef>
              <c:f>Sheet1!$A$2:$A$6</c:f>
              <c:strCache>
                <c:ptCount val="5"/>
                <c:pt idx="0">
                  <c:v>BBox testA</c:v>
                </c:pt>
                <c:pt idx="1">
                  <c:v>BBox testB</c:v>
                </c:pt>
                <c:pt idx="2">
                  <c:v>Mask val</c:v>
                </c:pt>
                <c:pt idx="3">
                  <c:v>Top-1
Thing</c:v>
                </c:pt>
                <c:pt idx="4">
                  <c:v>Top-1
Stuff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14.9</c:v>
                </c:pt>
                <c:pt idx="1">
                  <c:v>40.1</c:v>
                </c:pt>
                <c:pt idx="2">
                  <c:v>29.6</c:v>
                </c:pt>
                <c:pt idx="3">
                  <c:v>28.3</c:v>
                </c:pt>
                <c:pt idx="4">
                  <c:v>11.8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w/ VCM</c:v>
                </c:pt>
              </c:strCache>
            </c:strRef>
          </c:tx>
          <c:spPr>
            <a:solidFill>
              <a:srgbClr val="2770B1"/>
            </a:solidFill>
            <a:ln>
              <a:solidFill>
                <a:srgbClr val="2770B1"/>
              </a:solidFill>
            </a:ln>
          </c:spPr>
          <c:cat>
            <c:strRef>
              <c:f>Sheet1!$A$2:$A$6</c:f>
              <c:strCache>
                <c:ptCount val="5"/>
                <c:pt idx="0">
                  <c:v>BBox testA</c:v>
                </c:pt>
                <c:pt idx="1">
                  <c:v>BBox testB</c:v>
                </c:pt>
                <c:pt idx="2">
                  <c:v>Mask val</c:v>
                </c:pt>
                <c:pt idx="3">
                  <c:v>Top-1
Thing</c:v>
                </c:pt>
                <c:pt idx="4">
                  <c:v>Top-1
Stuff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16.5</c:v>
                </c:pt>
                <c:pt idx="1">
                  <c:v>41.3</c:v>
                </c:pt>
                <c:pt idx="2">
                  <c:v>31.9</c:v>
                </c:pt>
                <c:pt idx="3">
                  <c:v>43.8</c:v>
                </c:pt>
                <c:pt idx="4">
                  <c:v>25.4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D677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majorGridlines>
          <c:spPr>
            <a:ln>
              <a:solidFill>
                <a:srgbClr val="E0E5EA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5D677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2770B1"/>
            </a:solidFill>
            <a:ln>
              <a:solidFill>
                <a:srgbClr val="2770B1"/>
              </a:solidFill>
            </a:ln>
          </c:spPr>
          <c:cat>
            <c:strRef>
              <c:f>Sheet1!$A$2:$A$6</c:f>
              <c:strCache>
                <c:ptCount val="5"/>
                <c:pt idx="0">
                  <c:v>Base</c:v>
                </c:pt>
                <c:pt idx="1">
                  <c:v>+ ε(r)</c:v>
                </c:pt>
                <c:pt idx="2">
                  <c:v>+ weighted
average</c:v>
                </c:pt>
                <c:pt idx="3">
                  <c:v>+ semantic
alignment</c:v>
                </c:pt>
                <c:pt idx="4">
                  <c:v>+ mask
strategy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56.1</c:v>
                </c:pt>
                <c:pt idx="1">
                  <c:v>57.0</c:v>
                </c:pt>
                <c:pt idx="2">
                  <c:v>58.4</c:v>
                </c:pt>
                <c:pt idx="3">
                  <c:v>58.7</c:v>
                </c:pt>
                <c:pt idx="4">
                  <c:v>59.3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D677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.0"/>
          <c:min val="55.0"/>
        </c:scaling>
        <c:delete val="0"/>
        <c:axPos val="l"/>
        <c:majorGridlines>
          <c:spPr>
            <a:ln>
              <a:solidFill>
                <a:srgbClr val="E0E5EA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5D677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46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05840"/>
            <a:ext cx="201168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VCM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719072"/>
            <a:ext cx="8046720" cy="1280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Vision Concept Modeling with Adaptive Vision Token
Compression via Instruction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27832"/>
            <a:ext cx="7955279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B5DBF5"/>
                </a:solidFill>
                <a:latin typeface="Microsoft YaHei"/>
              </a:rPr>
              <a:t>从 token-level 冗余到 instruction-aware vision concepts</a:t>
            </a:r>
          </a:p>
        </p:txBody>
      </p:sp>
      <p:sp>
        <p:nvSpPr>
          <p:cNvPr id="5" name="Oval 4"/>
          <p:cNvSpPr/>
          <p:nvPr/>
        </p:nvSpPr>
        <p:spPr>
          <a:xfrm>
            <a:off x="9144000" y="1234440"/>
            <a:ext cx="658368" cy="658368"/>
          </a:xfrm>
          <a:prstGeom prst="ellipse">
            <a:avLst/>
          </a:prstGeom>
          <a:solidFill>
            <a:srgbClr val="3CB4C4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4856" y="1335024"/>
            <a:ext cx="67665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图像</a:t>
            </a:r>
          </a:p>
        </p:txBody>
      </p:sp>
      <p:sp>
        <p:nvSpPr>
          <p:cNvPr id="7" name="Oval 6"/>
          <p:cNvSpPr/>
          <p:nvPr/>
        </p:nvSpPr>
        <p:spPr>
          <a:xfrm>
            <a:off x="10149840" y="1234440"/>
            <a:ext cx="658368" cy="658368"/>
          </a:xfrm>
          <a:prstGeom prst="ellipse">
            <a:avLst/>
          </a:prstGeom>
          <a:solidFill>
            <a:srgbClr val="2770B1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0696" y="1335024"/>
            <a:ext cx="67665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指令</a:t>
            </a:r>
          </a:p>
        </p:txBody>
      </p:sp>
      <p:sp>
        <p:nvSpPr>
          <p:cNvPr id="9" name="Oval 8"/>
          <p:cNvSpPr/>
          <p:nvPr/>
        </p:nvSpPr>
        <p:spPr>
          <a:xfrm>
            <a:off x="9144000" y="2240280"/>
            <a:ext cx="658368" cy="658368"/>
          </a:xfrm>
          <a:prstGeom prst="ellipse">
            <a:avLst/>
          </a:prstGeom>
          <a:solidFill>
            <a:srgbClr val="EE7733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34856" y="2340864"/>
            <a:ext cx="67665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概念</a:t>
            </a:r>
          </a:p>
        </p:txBody>
      </p:sp>
      <p:sp>
        <p:nvSpPr>
          <p:cNvPr id="11" name="Oval 10"/>
          <p:cNvSpPr/>
          <p:nvPr/>
        </p:nvSpPr>
        <p:spPr>
          <a:xfrm>
            <a:off x="10149840" y="2240280"/>
            <a:ext cx="658368" cy="658368"/>
          </a:xfrm>
          <a:prstGeom prst="ellipse">
            <a:avLst/>
          </a:prstGeom>
          <a:solidFill>
            <a:srgbClr val="00998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0696" y="2340864"/>
            <a:ext cx="67665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回答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02368" y="1572768"/>
            <a:ext cx="347472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69880" y="1901952"/>
            <a:ext cx="0" cy="32004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5961888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论文逻辑凝练 · 可编辑科研汇报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5961888"/>
            <a:ext cx="384048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</a:rPr>
              <a:t>Luo et al. · arXiv:2504.19627v2 ·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LVLM 的现实瓶颈：看得越多，算得越重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115568"/>
            <a:ext cx="27432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1E2328"/>
                </a:solidFill>
                <a:latin typeface="Microsoft YaHei"/>
              </a:rPr>
              <a:t>高分辨率图像 / 长视频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69164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71016" y="169164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" y="169164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64792" y="169164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169164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58568" y="169164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05456" y="169164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52344" y="169164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9232" y="169164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69164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" y="193852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71016" y="193852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17904" y="193852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4792" y="193852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0" y="193852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58568" y="193852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05456" y="193852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52344" y="193852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99232" y="193852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46120" y="193852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4128" y="2185416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71016" y="2185416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7904" y="2185416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64792" y="2185416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11680" y="2185416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58568" y="2185416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05456" y="2185416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52344" y="2185416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99232" y="2185416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46120" y="2185416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4128" y="2432304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71016" y="2432304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517904" y="2432304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64792" y="2432304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11680" y="2432304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58568" y="2432304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05456" y="2432304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52344" y="2432304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99232" y="2432304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46120" y="2432304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4128" y="2679192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71016" y="2679192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517904" y="2679192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764792" y="2679192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011680" y="2679192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58568" y="2679192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05456" y="2679192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52344" y="2679192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999232" y="2679192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46120" y="2679192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4128" y="292608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71016" y="292608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517904" y="292608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764792" y="292608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011680" y="292608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258568" y="292608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05456" y="292608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52344" y="292608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999232" y="292608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46120" y="2926080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4128" y="317296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271016" y="317296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17904" y="317296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64792" y="317296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011680" y="317296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258568" y="317296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505456" y="317296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752344" y="317296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999232" y="317296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246120" y="3172968"/>
            <a:ext cx="201168" cy="201168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97280" y="3712463"/>
            <a:ext cx="26517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CE2636"/>
                </a:solidFill>
                <a:latin typeface="Arial"/>
              </a:rPr>
              <a:t>576+ vision tokens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3977639" y="2560320"/>
            <a:ext cx="731521" cy="0"/>
          </a:xfrm>
          <a:prstGeom prst="line">
            <a:avLst/>
          </a:prstGeom>
          <a:ln w="27940">
            <a:solidFill>
              <a:srgbClr val="CE2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4800600" y="1481328"/>
            <a:ext cx="2011680" cy="2148840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39512" y="1874519"/>
            <a:ext cx="11430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600" b="1">
                <a:solidFill>
                  <a:srgbClr val="07467C"/>
                </a:solidFill>
                <a:latin typeface="Arial"/>
              </a:rPr>
              <a:t>LLM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7488" y="2423160"/>
            <a:ext cx="1554480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5D6770"/>
                </a:solidFill>
                <a:latin typeface="Microsoft YaHei"/>
              </a:rPr>
              <a:t>Self-Attention
计算随序列长度快速增长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995160" y="2560320"/>
            <a:ext cx="731519" cy="0"/>
          </a:xfrm>
          <a:prstGeom prst="line">
            <a:avLst/>
          </a:prstGeom>
          <a:ln w="27940">
            <a:solidFill>
              <a:srgbClr val="CE2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863840" y="1325880"/>
            <a:ext cx="2194560" cy="58521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973568" y="1408176"/>
            <a:ext cx="196596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CE2636"/>
                </a:solidFill>
                <a:latin typeface="Arial"/>
              </a:rPr>
              <a:t>FLOPs ↑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63840" y="2240280"/>
            <a:ext cx="2194560" cy="58521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973568" y="2322576"/>
            <a:ext cx="196596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EE7733"/>
                </a:solidFill>
                <a:latin typeface="Arial"/>
              </a:rPr>
              <a:t>Latency ↑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863840" y="3154680"/>
            <a:ext cx="2194560" cy="58521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73568" y="3236976"/>
            <a:ext cx="196596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07467C"/>
                </a:solidFill>
                <a:latin typeface="Arial"/>
              </a:rPr>
              <a:t>Memory ↑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核心矛盾：当前 LVLM 处理所有视觉 token，而人类按任务选择少量高层概念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Luo et al., VCM, arXiv:2504.19627v2 (2025)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从“处理整幅图”转向“提取任务相关概念”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43000"/>
            <a:ext cx="448056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5D6770"/>
                </a:solidFill>
                <a:latin typeface="Arial"/>
              </a:rPr>
              <a:t>Token-level 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7632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83664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39696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95728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51760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07792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63824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9856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75888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0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43984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27632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83664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39696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95728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51760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7792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63824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19856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75888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1920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87952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43984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27632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83664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39696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95728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51760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07792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3824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19856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75888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31920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87952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43984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27632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83664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39696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395728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51760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07792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63824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19856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75888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31920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87952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43984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627632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883664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39696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95728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51760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07792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163824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19856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75888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31920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87952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43984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627632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883664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139696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395728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51760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907792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163824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419856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675888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931920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187952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443984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627632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883664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139696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395728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651760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907792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163824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419856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75888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931920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187952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443984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34440" y="3913632"/>
            <a:ext cx="36576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0">
                <a:solidFill>
                  <a:srgbClr val="5D6770"/>
                </a:solidFill>
                <a:latin typeface="Microsoft YaHei"/>
              </a:rPr>
              <a:t>每个 patch 都进入 LLM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321808" y="2743200"/>
            <a:ext cx="1307592" cy="0"/>
          </a:xfrm>
          <a:prstGeom prst="line">
            <a:avLst/>
          </a:prstGeom>
          <a:ln w="38100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486400" y="2267712"/>
            <a:ext cx="10058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770B1"/>
                </a:solidFill>
                <a:latin typeface="Arial"/>
              </a:rPr>
              <a:t>instruction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20840" y="1143000"/>
            <a:ext cx="448056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07467C"/>
                </a:solidFill>
                <a:latin typeface="Arial"/>
              </a:rPr>
              <a:t>Concept-level processing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479792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735823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991856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47888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03920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59952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15984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272016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528048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784080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040112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96144" y="175564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479792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735823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991856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247888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503920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759952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15984" y="2011680"/>
            <a:ext cx="210312" cy="210312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272016" y="2011680"/>
            <a:ext cx="210312" cy="210312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8048" y="2011680"/>
            <a:ext cx="210312" cy="210312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84080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040112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296144" y="201168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479792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735823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991856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247888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503920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759952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015984" y="2267712"/>
            <a:ext cx="210312" cy="210312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272016" y="2267712"/>
            <a:ext cx="210312" cy="210312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528048" y="2267712"/>
            <a:ext cx="210312" cy="210312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784080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040112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296144" y="2267712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479792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735823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991856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247888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503920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59952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015984" y="2523744"/>
            <a:ext cx="210312" cy="210312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272016" y="2523744"/>
            <a:ext cx="210312" cy="210312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528048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784080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040112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296144" y="2523744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479792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735823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991856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247888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03920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59952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015984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272016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528048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9784080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040112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296144" y="2779776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479792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735823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991856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247888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503920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759952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015984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272016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528048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9784080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040112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296144" y="3035808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479792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735823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991856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247888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503920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759952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15984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272016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528048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784080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040112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0296144" y="3291840"/>
            <a:ext cx="210312" cy="210312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7086600" y="3913632"/>
            <a:ext cx="36576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7467C"/>
                </a:solidFill>
                <a:latin typeface="Microsoft YaHei"/>
              </a:rPr>
              <a:t>只保留与问题相关的区域 / 概念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Compression ≠ 丢弃信息；VCM 的目标是压缩冗余，同时保留可解释的空间语义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Luo et al., VCM, arXiv:2504.19627v2 (2025)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Vision Concept Model：由指令决定“看多少、看哪里”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822960" y="1234440"/>
            <a:ext cx="2377440" cy="1005840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173736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300" b="1">
                <a:solidFill>
                  <a:srgbClr val="07467C"/>
                </a:solidFill>
                <a:latin typeface="Microsoft YaHei"/>
              </a:rPr>
              <a:t>图像 Xᴠ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23774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3246120"/>
            <a:ext cx="18288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300" b="1">
                <a:solidFill>
                  <a:srgbClr val="EE7733"/>
                </a:solidFill>
                <a:latin typeface="Microsoft YaHei"/>
              </a:rPr>
              <a:t>任务指令 Xɪ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1737360"/>
            <a:ext cx="868680" cy="731520"/>
          </a:xfrm>
          <a:prstGeom prst="line">
            <a:avLst/>
          </a:prstGeom>
          <a:ln w="25400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246120" y="2834640"/>
            <a:ext cx="868680" cy="731520"/>
          </a:xfrm>
          <a:prstGeom prst="line">
            <a:avLst/>
          </a:prstGeom>
          <a:ln w="25400">
            <a:solidFill>
              <a:srgbClr val="EE7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06240" y="1572768"/>
            <a:ext cx="2788920" cy="2304288"/>
          </a:xfrm>
          <a:prstGeom prst="roundRect">
            <a:avLst/>
          </a:prstGeom>
          <a:solidFill>
            <a:srgbClr val="E6F1FA"/>
          </a:solidFill>
          <a:ln w="2286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8" y="1874519"/>
            <a:ext cx="146304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3000" b="1">
                <a:solidFill>
                  <a:srgbClr val="07467C"/>
                </a:solidFill>
                <a:latin typeface="Arial"/>
              </a:rPr>
              <a:t>VCM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32304"/>
            <a:ext cx="196596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1E2328"/>
                </a:solidFill>
                <a:latin typeface="Arial"/>
              </a:rPr>
              <a:t>Adaptive quantity
+
Spatial alignment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86600" y="2706624"/>
            <a:ext cx="868679" cy="0"/>
          </a:xfrm>
          <a:prstGeom prst="line">
            <a:avLst/>
          </a:prstGeom>
          <a:ln w="30480">
            <a:solidFill>
              <a:srgbClr val="0099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119872" y="2240280"/>
            <a:ext cx="777240" cy="777240"/>
          </a:xfrm>
          <a:prstGeom prst="ellipse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4" y="2441448"/>
            <a:ext cx="7223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概念 1</a:t>
            </a:r>
          </a:p>
        </p:txBody>
      </p:sp>
      <p:sp>
        <p:nvSpPr>
          <p:cNvPr id="16" name="Oval 15"/>
          <p:cNvSpPr/>
          <p:nvPr/>
        </p:nvSpPr>
        <p:spPr>
          <a:xfrm>
            <a:off x="9079992" y="2240280"/>
            <a:ext cx="777240" cy="777240"/>
          </a:xfrm>
          <a:prstGeom prst="ellipse">
            <a:avLst/>
          </a:prstGeom>
          <a:solidFill>
            <a:srgbClr val="00998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7424" y="2441448"/>
            <a:ext cx="7223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概念 2</a:t>
            </a:r>
          </a:p>
        </p:txBody>
      </p:sp>
      <p:sp>
        <p:nvSpPr>
          <p:cNvPr id="18" name="Oval 17"/>
          <p:cNvSpPr/>
          <p:nvPr/>
        </p:nvSpPr>
        <p:spPr>
          <a:xfrm>
            <a:off x="10040112" y="2240280"/>
            <a:ext cx="777240" cy="777240"/>
          </a:xfrm>
          <a:prstGeom prst="ellipse">
            <a:avLst/>
          </a:prstGeom>
          <a:solidFill>
            <a:srgbClr val="EE773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67544" y="2441448"/>
            <a:ext cx="7223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概念 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246120"/>
            <a:ext cx="329184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1E2328"/>
                </a:solidFill>
                <a:latin typeface="Microsoft YaHei"/>
              </a:rPr>
              <a:t>输出长度 </a:t>
            </a:r>
            <a:r>
              <a:rPr sz="1600" b="1">
                <a:solidFill>
                  <a:srgbClr val="CE2636"/>
                </a:solidFill>
                <a:latin typeface="Microsoft YaHei"/>
              </a:rPr>
              <a:t>K</a:t>
            </a:r>
            <a:r>
              <a:rPr sz="1600" b="0">
                <a:solidFill>
                  <a:srgbClr val="1E2328"/>
                </a:solidFill>
                <a:latin typeface="Microsoft YaHei"/>
              </a:rPr>
              <a:t> 随样本与指令动态变化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形式化定义：从固定数量的 vision tokens，升级为 instruction-conditioned vision concepts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Luo et al., VCM, arXiv:2504.19627v2 (2025)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为什么已有 token reduction 还不是 Vision Concept Model？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685800" y="1143000"/>
            <a:ext cx="333756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D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29718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5D6770"/>
                </a:solidFill>
                <a:latin typeface="Arial"/>
              </a:rPr>
              <a:t>Prune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880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1E2328"/>
                </a:solidFill>
                <a:latin typeface="Microsoft YaHei"/>
              </a:rPr>
              <a:t>按 attention 阈值删除</a:t>
            </a:r>
          </a:p>
        </p:txBody>
      </p:sp>
      <p:sp>
        <p:nvSpPr>
          <p:cNvPr id="7" name="Rectangle 6"/>
          <p:cNvSpPr/>
          <p:nvPr/>
        </p:nvSpPr>
        <p:spPr>
          <a:xfrm>
            <a:off x="1307592" y="25420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36192" y="2542032"/>
            <a:ext cx="182880" cy="182880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64792" y="25420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93392" y="25420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21992" y="25420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50592" y="25420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9192" y="25420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7792" y="25420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07592" y="27706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36192" y="2770632"/>
            <a:ext cx="182880" cy="182880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4792" y="2770632"/>
            <a:ext cx="182880" cy="182880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93392" y="27706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21992" y="27706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50592" y="27706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79192" y="27706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7792" y="27706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07592" y="29992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36192" y="29992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64792" y="2999232"/>
            <a:ext cx="182880" cy="182880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93392" y="29992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21992" y="29992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50592" y="29992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79192" y="29992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07792" y="29992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07592" y="32278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36192" y="32278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64792" y="3227832"/>
            <a:ext cx="182880" cy="182880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993392" y="32278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21992" y="32278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50592" y="32278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79192" y="32278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07792" y="32278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3977639"/>
            <a:ext cx="2514600" cy="7772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0">
                <a:solidFill>
                  <a:srgbClr val="5D6770"/>
                </a:solidFill>
                <a:latin typeface="Microsoft YaHei"/>
              </a:rPr>
              <a:t>长度难控制
可能破坏语义连续性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0560" y="1143000"/>
            <a:ext cx="3337560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1353312"/>
            <a:ext cx="29718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EE7733"/>
                </a:solidFill>
                <a:latin typeface="Arial"/>
              </a:rPr>
              <a:t>Merge / Query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1783080"/>
            <a:ext cx="2880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1E2328"/>
                </a:solidFill>
                <a:latin typeface="Microsoft YaHei"/>
              </a:rPr>
              <a:t>压为固定长度</a:t>
            </a:r>
          </a:p>
        </p:txBody>
      </p:sp>
      <p:sp>
        <p:nvSpPr>
          <p:cNvPr id="43" name="Oval 42"/>
          <p:cNvSpPr/>
          <p:nvPr/>
        </p:nvSpPr>
        <p:spPr>
          <a:xfrm>
            <a:off x="4983480" y="2743200"/>
            <a:ext cx="347472" cy="347472"/>
          </a:xfrm>
          <a:prstGeom prst="ellipse">
            <a:avLst/>
          </a:prstGeom>
          <a:solidFill>
            <a:srgbClr val="EE773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486400" y="2743200"/>
            <a:ext cx="347472" cy="347472"/>
          </a:xfrm>
          <a:prstGeom prst="ellipse">
            <a:avLst/>
          </a:prstGeom>
          <a:solidFill>
            <a:srgbClr val="EE773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89320" y="2743200"/>
            <a:ext cx="347472" cy="347472"/>
          </a:xfrm>
          <a:prstGeom prst="ellipse">
            <a:avLst/>
          </a:prstGeom>
          <a:solidFill>
            <a:srgbClr val="EE773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2240" y="2743200"/>
            <a:ext cx="347472" cy="347472"/>
          </a:xfrm>
          <a:prstGeom prst="ellipse">
            <a:avLst/>
          </a:prstGeom>
          <a:solidFill>
            <a:srgbClr val="EE773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95160" y="2743200"/>
            <a:ext cx="347472" cy="347472"/>
          </a:xfrm>
          <a:prstGeom prst="ellipse">
            <a:avLst/>
          </a:prstGeom>
          <a:solidFill>
            <a:srgbClr val="EE773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92040" y="3977639"/>
            <a:ext cx="2514600" cy="7772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0">
                <a:solidFill>
                  <a:srgbClr val="EE7733"/>
                </a:solidFill>
                <a:latin typeface="Microsoft YaHei"/>
              </a:rPr>
              <a:t>固定 query 数量
空间关系容易丢失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75320" y="1143000"/>
            <a:ext cx="3337560" cy="425196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1353312"/>
            <a:ext cx="29718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2770B1"/>
                </a:solidFill>
                <a:latin typeface="Arial"/>
              </a:rPr>
              <a:t>VCM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1783080"/>
            <a:ext cx="2880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1E2328"/>
                </a:solidFill>
                <a:latin typeface="Microsoft YaHei"/>
              </a:rPr>
              <a:t>自适应局部合并 + 过滤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97112" y="25420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25712" y="25420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54312" y="25420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582912" y="25420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11512" y="25420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40112" y="25420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268712" y="25420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497312" y="25420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97112" y="27706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125712" y="2770632"/>
            <a:ext cx="182880" cy="182880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54312" y="2770632"/>
            <a:ext cx="182880" cy="182880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582912" y="2770632"/>
            <a:ext cx="182880" cy="182880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811512" y="27706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040112" y="27706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268712" y="27706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497312" y="27706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897112" y="29992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25712" y="29992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354312" y="2999232"/>
            <a:ext cx="182880" cy="182880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82912" y="2999232"/>
            <a:ext cx="182880" cy="182880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811512" y="29992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040112" y="29992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68712" y="29992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497312" y="29992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897112" y="32278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25712" y="32278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354312" y="32278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582912" y="32278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811512" y="32278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40112" y="32278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268712" y="32278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497312" y="3227832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686800" y="3977639"/>
            <a:ext cx="2514600" cy="7772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长度可控
保留相对顺序与位置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VCM 不只追求“更少的 token”，而是学习具有语义与空间对应关系的概念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Luo et al., VCM, arXiv:2504.19627v2 (2025)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关键观察：最小视觉长度与文本先验存在稳定相关性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188720"/>
            <a:ext cx="333756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444752"/>
            <a:ext cx="26517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2770B1"/>
                </a:solidFill>
                <a:latin typeface="Arial"/>
              </a:rPr>
              <a:t>Response keywords 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4160520"/>
            <a:ext cx="2423160" cy="0"/>
          </a:xfrm>
          <a:prstGeom prst="line">
            <a:avLst/>
          </a:prstGeom>
          <a:ln w="2032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143000" y="2011680"/>
            <a:ext cx="0" cy="2148840"/>
          </a:xfrm>
          <a:prstGeom prst="line">
            <a:avLst/>
          </a:prstGeom>
          <a:ln w="2032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417320" y="2240280"/>
            <a:ext cx="1856232" cy="1554480"/>
          </a:xfrm>
          <a:prstGeom prst="line">
            <a:avLst/>
          </a:prstGeom>
          <a:ln w="38100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88720" y="4315968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Microsoft YaHei"/>
              </a:rPr>
              <a:t>需要的 vision length 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188720"/>
            <a:ext cx="333756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444752"/>
            <a:ext cx="27432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EE7733"/>
                </a:solidFill>
                <a:latin typeface="Arial"/>
              </a:rPr>
              <a:t>Instruction keywords 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46320" y="4160520"/>
            <a:ext cx="2423160" cy="0"/>
          </a:xfrm>
          <a:prstGeom prst="line">
            <a:avLst/>
          </a:prstGeom>
          <a:ln w="2032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846320" y="2011680"/>
            <a:ext cx="0" cy="2148840"/>
          </a:xfrm>
          <a:prstGeom prst="line">
            <a:avLst/>
          </a:prstGeom>
          <a:ln w="2032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38928" y="2240280"/>
            <a:ext cx="1856232" cy="1554480"/>
          </a:xfrm>
          <a:prstGeom prst="line">
            <a:avLst/>
          </a:prstGeom>
          <a:ln w="38100">
            <a:solidFill>
              <a:srgbClr val="EE7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19472" y="4315968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Microsoft YaHei"/>
              </a:rPr>
              <a:t>问题越具体，所需视觉信息越少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337560" cy="3611880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1444752"/>
            <a:ext cx="21488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07467C"/>
                </a:solidFill>
                <a:latin typeface="Arial"/>
              </a:rPr>
              <a:t>Δ keywords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49640" y="4160520"/>
            <a:ext cx="2423160" cy="0"/>
          </a:xfrm>
          <a:prstGeom prst="line">
            <a:avLst/>
          </a:prstGeom>
          <a:ln w="2032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549640" y="2011680"/>
            <a:ext cx="0" cy="2148840"/>
          </a:xfrm>
          <a:prstGeom prst="line">
            <a:avLst/>
          </a:prstGeom>
          <a:ln w="2032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51392" y="2331720"/>
            <a:ext cx="1865376" cy="1417319"/>
          </a:xfrm>
          <a:prstGeom prst="line">
            <a:avLst/>
          </a:prstGeom>
          <a:ln w="38100">
            <a:solidFill>
              <a:srgbClr val="0746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32520" y="4270248"/>
            <a:ext cx="21031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07467C"/>
                </a:solidFill>
                <a:latin typeface="Microsoft YaHei"/>
              </a:rPr>
              <a:t>response − instruction
更稳定的估计信号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利用粗粒度 instruction–response 数据，即可自监督估计每个样本需要多少 vision concepts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Paper Fig. 2; correlations estimated on 5K LLaVA instruction-tuning instances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两个挑战，对应两条技术路线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051560" y="1572768"/>
            <a:ext cx="685800" cy="685800"/>
          </a:xfrm>
          <a:prstGeom prst="ellipse">
            <a:avLst/>
          </a:prstGeom>
          <a:solidFill>
            <a:srgbClr val="CE263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97864" y="1709928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572768"/>
            <a:ext cx="38862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1E2328"/>
                </a:solidFill>
                <a:latin typeface="Microsoft YaHei"/>
              </a:rPr>
              <a:t>缺少 fine-grained concept annotations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720" y="1920240"/>
            <a:ext cx="731520" cy="0"/>
          </a:xfrm>
          <a:prstGeom prst="line">
            <a:avLst/>
          </a:prstGeom>
          <a:ln w="31750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601968" y="1298448"/>
            <a:ext cx="4434840" cy="1261872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5432" y="1481328"/>
            <a:ext cx="3858768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07467C"/>
                </a:solidFill>
                <a:latin typeface="Arial"/>
              </a:rPr>
              <a:t>Semantic alignment + implicit contrastive 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7728" y="1984248"/>
            <a:ext cx="370332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5D6770"/>
                </a:solidFill>
                <a:latin typeface="Microsoft YaHei"/>
              </a:rPr>
              <a:t>从指令与回答中自动寻找 image-relevant keywords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3493008"/>
            <a:ext cx="685800" cy="685800"/>
          </a:xfrm>
          <a:prstGeom prst="ellipse">
            <a:avLst/>
          </a:prstGeom>
          <a:solidFill>
            <a:srgbClr val="EE773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3630168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493008"/>
            <a:ext cx="38862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1E2328"/>
                </a:solidFill>
                <a:latin typeface="Microsoft YaHei"/>
              </a:rPr>
              <a:t>不同样本需要不同 concept length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20" y="3840480"/>
            <a:ext cx="731520" cy="0"/>
          </a:xfrm>
          <a:prstGeom prst="line">
            <a:avLst/>
          </a:prstGeom>
          <a:ln w="31750">
            <a:solidFill>
              <a:srgbClr val="EE7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01968" y="3218688"/>
            <a:ext cx="4434840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2" y="3401568"/>
            <a:ext cx="3858768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EE7733"/>
                </a:solidFill>
                <a:latin typeface="Arial"/>
              </a:rPr>
              <a:t>Forward–backward dynamic programming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904487"/>
            <a:ext cx="370332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5D6770"/>
                </a:solidFill>
                <a:latin typeface="Microsoft YaHei"/>
              </a:rPr>
              <a:t>O(2ᴹ) 搜索 → O(M²) 可优化目标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VCM = 文本先验提供“目标长度” + 动态规划学习“具体位置”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Luo et al., VCM, arXiv:2504.19627v2 (2025)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VCM 总体框架：先学习语义，再学习动态概念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94360" y="1417320"/>
            <a:ext cx="2423160" cy="3090672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45920"/>
            <a:ext cx="2093976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2770B1"/>
                </a:solidFill>
                <a:latin typeface="Arial"/>
              </a:rPr>
              <a:t>① Pre-training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21408"/>
            <a:ext cx="2093976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1E2328"/>
                </a:solidFill>
                <a:latin typeface="Arial"/>
              </a:rPr>
              <a:t>Semantic alignment</a:t>
            </a:r>
          </a:p>
        </p:txBody>
      </p:sp>
      <p:sp>
        <p:nvSpPr>
          <p:cNvPr id="7" name="Oval 6"/>
          <p:cNvSpPr/>
          <p:nvPr/>
        </p:nvSpPr>
        <p:spPr>
          <a:xfrm>
            <a:off x="1033271" y="3044952"/>
            <a:ext cx="502920" cy="502920"/>
          </a:xfrm>
          <a:prstGeom prst="ellipse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1912" y="3044952"/>
            <a:ext cx="502920" cy="502920"/>
          </a:xfrm>
          <a:prstGeom prst="ellipse">
            <a:avLst/>
          </a:prstGeom>
          <a:solidFill>
            <a:srgbClr val="3CB4C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30552" y="3044952"/>
            <a:ext cx="502920" cy="502920"/>
          </a:xfrm>
          <a:prstGeom prst="ellipse">
            <a:avLst/>
          </a:prstGeom>
          <a:solidFill>
            <a:srgbClr val="07467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30752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5D6770"/>
                </a:solidFill>
                <a:latin typeface="Arial"/>
              </a:rPr>
              <a:t>Gᵀ   Gⱽ   Gᴸᴸᴹ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35808" y="2971800"/>
            <a:ext cx="393192" cy="0"/>
          </a:xfrm>
          <a:prstGeom prst="line">
            <a:avLst/>
          </a:prstGeom>
          <a:ln w="2159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83864" y="1417320"/>
            <a:ext cx="2423160" cy="3090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1645920"/>
            <a:ext cx="2093976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EE7733"/>
                </a:solidFill>
                <a:latin typeface="Arial"/>
              </a:rPr>
              <a:t>② Instruction 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121408"/>
            <a:ext cx="2093976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1E2328"/>
                </a:solidFill>
                <a:latin typeface="Arial"/>
              </a:rPr>
              <a:t>Keyword selection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3904" y="2999232"/>
            <a:ext cx="530352" cy="502920"/>
          </a:xfrm>
          <a:prstGeom prst="rect">
            <a:avLst/>
          </a:prstGeom>
          <a:solidFill>
            <a:srgbClr val="EE773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3090672"/>
            <a:ext cx="512064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person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2999232"/>
            <a:ext cx="530352" cy="502920"/>
          </a:xfrm>
          <a:prstGeom prst="rect">
            <a:avLst/>
          </a:prstGeom>
          <a:solidFill>
            <a:srgbClr val="EE773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3090672"/>
            <a:ext cx="512064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yellow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4" y="2999232"/>
            <a:ext cx="530352" cy="502920"/>
          </a:xfrm>
          <a:prstGeom prst="rect">
            <a:avLst/>
          </a:prstGeom>
          <a:solidFill>
            <a:srgbClr val="E0E5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1768" y="3090672"/>
            <a:ext cx="512064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5D6770"/>
                </a:solidFill>
                <a:latin typeface="Arial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232" y="3730752"/>
            <a:ext cx="11430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EE7733"/>
                </a:solidFill>
                <a:latin typeface="Arial"/>
              </a:rPr>
              <a:t>K &gt; E(K)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25312" y="2971800"/>
            <a:ext cx="393192" cy="0"/>
          </a:xfrm>
          <a:prstGeom prst="line">
            <a:avLst/>
          </a:prstGeom>
          <a:ln w="2159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73368" y="1417320"/>
            <a:ext cx="2423160" cy="3090672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645920"/>
            <a:ext cx="2093976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009988"/>
                </a:solidFill>
                <a:latin typeface="Arial"/>
              </a:rPr>
              <a:t>③ VCM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121408"/>
            <a:ext cx="2093976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1E2328"/>
                </a:solidFill>
                <a:latin typeface="Arial"/>
              </a:rPr>
              <a:t>Forward–backward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2944368"/>
            <a:ext cx="178308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009988"/>
                </a:solidFill>
                <a:latin typeface="Arial"/>
              </a:rPr>
              <a:t>∅  ★  ∅  ★  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3538728"/>
            <a:ext cx="178308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5D6770"/>
                </a:solidFill>
                <a:latin typeface="Arial"/>
              </a:rPr>
              <a:t>α(t,l)  ↔  β(t,l)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14816" y="2971800"/>
            <a:ext cx="393192" cy="0"/>
          </a:xfrm>
          <a:prstGeom prst="line">
            <a:avLst/>
          </a:prstGeom>
          <a:ln w="2159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262872" y="1417320"/>
            <a:ext cx="2423160" cy="3090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27464" y="1645920"/>
            <a:ext cx="2093976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07467C"/>
                </a:solidFill>
                <a:latin typeface="Arial"/>
              </a:rPr>
              <a:t>④ Inference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7464" y="2121408"/>
            <a:ext cx="2093976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1E2328"/>
                </a:solidFill>
                <a:latin typeface="Arial"/>
              </a:rPr>
              <a:t>Concept → LLM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74352" y="2944368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93808" y="2944368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13264" y="2944368"/>
            <a:ext cx="182880" cy="182880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332720" y="2944368"/>
            <a:ext cx="182880" cy="182880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52176" y="2944368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771632" y="2944368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991088" y="2944368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74352" y="3163824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93808" y="3163824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113264" y="3163824"/>
            <a:ext cx="182880" cy="182880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332720" y="3163824"/>
            <a:ext cx="182880" cy="182880"/>
          </a:xfrm>
          <a:prstGeom prst="rect">
            <a:avLst/>
          </a:prstGeom>
          <a:solidFill>
            <a:srgbClr val="2770B1"/>
          </a:solidFill>
          <a:ln w="508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552176" y="3163824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771632" y="3163824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991088" y="3163824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74352" y="3383280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93808" y="3383280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113264" y="3383280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332720" y="3383280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552176" y="3383280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771632" y="3383280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991088" y="3383280"/>
            <a:ext cx="182880" cy="182880"/>
          </a:xfrm>
          <a:prstGeom prst="rect">
            <a:avLst/>
          </a:prstGeom>
          <a:solidFill>
            <a:srgbClr val="DAE1E8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65792" y="3767328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7467C"/>
                </a:solidFill>
                <a:latin typeface="Arial"/>
              </a:rPr>
              <a:t>Hᵥ → Hᵥᶜ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训练时：用粗监督学习可变长度概念；推理时：把少量 Hᵥᶜ 与指令一起送入 LLM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Editable reconstruction of the paper's Figure 3 workflow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阶段一：Semantic Alignment 让关键词选择器理解“图文相关”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417320"/>
            <a:ext cx="19659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16916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EE7733"/>
                </a:solidFill>
                <a:latin typeface="Arial"/>
              </a:rPr>
              <a:t>Instruction
+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54680"/>
            <a:ext cx="1965960" cy="868680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16916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Arial"/>
              </a:rPr>
              <a:t>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417320"/>
            <a:ext cx="19659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554480"/>
            <a:ext cx="16916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EE7733"/>
                </a:solidFill>
                <a:latin typeface="Arial"/>
              </a:rPr>
              <a:t>Keyword
Selector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3154680"/>
            <a:ext cx="1965960" cy="868680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291840"/>
            <a:ext cx="16916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Arial"/>
              </a:rPr>
              <a:t>Vision
Encoder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417320"/>
            <a:ext cx="19659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16916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EE7733"/>
                </a:solidFill>
                <a:latin typeface="Arial"/>
              </a:rPr>
              <a:t>Global Text
Gᵀ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154680"/>
            <a:ext cx="1965960" cy="868680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291840"/>
            <a:ext cx="16916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Arial"/>
              </a:rPr>
              <a:t>Global Vision
Gⱽ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2304288"/>
            <a:ext cx="1965960" cy="868680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441448"/>
            <a:ext cx="16916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7467C"/>
                </a:solidFill>
                <a:latin typeface="Arial"/>
              </a:rPr>
              <a:t>LM Head
semantic space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89504" y="1847088"/>
            <a:ext cx="786383" cy="0"/>
          </a:xfrm>
          <a:prstGeom prst="line">
            <a:avLst/>
          </a:prstGeom>
          <a:ln w="20320">
            <a:solidFill>
              <a:srgbClr val="EE7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89504" y="3584448"/>
            <a:ext cx="786383" cy="0"/>
          </a:xfrm>
          <a:prstGeom prst="line">
            <a:avLst/>
          </a:prstGeom>
          <a:ln w="20320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78424" y="1847088"/>
            <a:ext cx="786384" cy="0"/>
          </a:xfrm>
          <a:prstGeom prst="line">
            <a:avLst/>
          </a:prstGeom>
          <a:ln w="20320">
            <a:solidFill>
              <a:srgbClr val="EE7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78424" y="3584448"/>
            <a:ext cx="786384" cy="0"/>
          </a:xfrm>
          <a:prstGeom prst="line">
            <a:avLst/>
          </a:prstGeom>
          <a:ln w="20320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485632" y="1847088"/>
            <a:ext cx="749808" cy="640080"/>
          </a:xfrm>
          <a:prstGeom prst="line">
            <a:avLst/>
          </a:prstGeom>
          <a:ln w="20320">
            <a:solidFill>
              <a:srgbClr val="EE7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485632" y="2944368"/>
            <a:ext cx="749808" cy="640080"/>
          </a:xfrm>
          <a:prstGeom prst="line">
            <a:avLst/>
          </a:prstGeom>
          <a:ln w="20320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462272" y="4572000"/>
            <a:ext cx="3246120" cy="685800"/>
          </a:xfrm>
          <a:prstGeom prst="roundRect">
            <a:avLst/>
          </a:prstGeom>
          <a:solidFill>
            <a:srgbClr val="E6F1FA"/>
          </a:solidFill>
          <a:ln w="1524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709160"/>
            <a:ext cx="294436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7467C"/>
                </a:solidFill>
                <a:latin typeface="Microsoft YaHei"/>
              </a:rPr>
              <a:t>Lₛₐ：对齐 Gᵀ、Gⱽ 与 Gᴸᴸᴹ 的语义分布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5669280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5724144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目的不是直接标注概念，而是让 selector 学会哪些词与当前图像真正相关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Luo et al., VCM, arXiv:2504.19627v2 (2025)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阶段二：从 instruction–response 中自适应选择 image-relevant keywords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13232" y="1417320"/>
            <a:ext cx="1307592" cy="640080"/>
          </a:xfrm>
          <a:prstGeom prst="rect">
            <a:avLst/>
          </a:prstGeom>
          <a:solidFill>
            <a:srgbClr val="E0E5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27048"/>
            <a:ext cx="1307592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0">
                <a:solidFill>
                  <a:srgbClr val="5D6770"/>
                </a:solidFill>
                <a:latin typeface="Arial"/>
              </a:rPr>
              <a:t>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0552"/>
            <a:ext cx="130759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Arial"/>
              </a:rPr>
              <a:t>0.03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1307592" cy="640080"/>
          </a:xfrm>
          <a:prstGeom prst="rect">
            <a:avLst/>
          </a:prstGeom>
          <a:solidFill>
            <a:srgbClr val="E0E5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527048"/>
            <a:ext cx="1307592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0">
                <a:solidFill>
                  <a:srgbClr val="5D6770"/>
                </a:solidFill>
                <a:latin typeface="Arial"/>
              </a:rPr>
              <a:t>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30552"/>
            <a:ext cx="130759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Arial"/>
              </a:rPr>
              <a:t>0.01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58768" y="1417320"/>
            <a:ext cx="1307592" cy="640080"/>
          </a:xfrm>
          <a:prstGeom prst="rect">
            <a:avLst/>
          </a:prstGeom>
          <a:solidFill>
            <a:srgbClr val="E0E5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1527048"/>
            <a:ext cx="1307592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0">
                <a:solidFill>
                  <a:srgbClr val="5D6770"/>
                </a:solidFill>
                <a:latin typeface="Arial"/>
              </a:rPr>
              <a:t>the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130552"/>
            <a:ext cx="130759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Arial"/>
              </a:rPr>
              <a:t>0.03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31536" y="1417320"/>
            <a:ext cx="1307592" cy="640080"/>
          </a:xfrm>
          <a:prstGeom prst="rect">
            <a:avLst/>
          </a:prstGeom>
          <a:solidFill>
            <a:srgbClr val="CE263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1536" y="1527048"/>
            <a:ext cx="1307592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person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1536" y="2130552"/>
            <a:ext cx="130759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CE2636"/>
                </a:solidFill>
                <a:latin typeface="Arial"/>
              </a:rPr>
              <a:t>0.51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04304" y="1417320"/>
            <a:ext cx="1307592" cy="640080"/>
          </a:xfrm>
          <a:prstGeom prst="rect">
            <a:avLst/>
          </a:prstGeom>
          <a:solidFill>
            <a:srgbClr val="E0E5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4304" y="1527048"/>
            <a:ext cx="1307592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0">
                <a:solidFill>
                  <a:srgbClr val="5D6770"/>
                </a:solidFill>
                <a:latin typeface="Arial"/>
              </a:rPr>
              <a:t>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130552"/>
            <a:ext cx="130759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Arial"/>
              </a:rPr>
              <a:t>0.02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77072" y="1417320"/>
            <a:ext cx="1307592" cy="640080"/>
          </a:xfrm>
          <a:prstGeom prst="rect">
            <a:avLst/>
          </a:prstGeom>
          <a:solidFill>
            <a:srgbClr val="CE263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7072" y="1527048"/>
            <a:ext cx="1307592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yellow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2130552"/>
            <a:ext cx="130759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CE2636"/>
                </a:solidFill>
                <a:latin typeface="Arial"/>
              </a:rPr>
              <a:t>0.39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1417320"/>
            <a:ext cx="1307592" cy="640080"/>
          </a:xfrm>
          <a:prstGeom prst="rect">
            <a:avLst/>
          </a:prstGeom>
          <a:solidFill>
            <a:srgbClr val="E0E5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1527048"/>
            <a:ext cx="1307592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0">
                <a:solidFill>
                  <a:srgbClr val="5D6770"/>
                </a:solidFill>
                <a:latin typeface="Arial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130552"/>
            <a:ext cx="130759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Arial"/>
              </a:rPr>
              <a:t>0.01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7952" y="2578608"/>
            <a:ext cx="3749039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D6770"/>
                </a:solidFill>
                <a:latin typeface="Arial"/>
              </a:rPr>
              <a:t>Softmax similarity score 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53328" y="2971800"/>
            <a:ext cx="0" cy="484632"/>
          </a:xfrm>
          <a:prstGeom prst="line">
            <a:avLst/>
          </a:prstGeom>
          <a:ln w="25400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913632" y="3547872"/>
            <a:ext cx="4297680" cy="749808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3703320"/>
            <a:ext cx="3803904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0">
                <a:solidFill>
                  <a:srgbClr val="1E2328"/>
                </a:solidFill>
                <a:latin typeface="Microsoft YaHei"/>
              </a:rPr>
              <a:t>阈值：</a:t>
            </a:r>
            <a:r>
              <a:rPr sz="1700" b="1">
                <a:solidFill>
                  <a:srgbClr val="CE2636"/>
                </a:solidFill>
                <a:latin typeface="Microsoft YaHei"/>
              </a:rPr>
              <a:t> K &gt; E(K) </a:t>
            </a:r>
            <a:r>
              <a:rPr sz="1700" b="0">
                <a:solidFill>
                  <a:srgbClr val="1E2328"/>
                </a:solidFill>
                <a:latin typeface="Microsoft YaHei"/>
              </a:rPr>
              <a:t>→ {person, yellow}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70432" y="4645152"/>
            <a:ext cx="40233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9032" y="4782312"/>
            <a:ext cx="356616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EE7733"/>
                </a:solidFill>
                <a:latin typeface="Microsoft YaHei"/>
              </a:rPr>
              <a:t>随机 mask keywords → 构造隐式对比样本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3720" y="4645152"/>
            <a:ext cx="40233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4782312"/>
            <a:ext cx="356616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009988"/>
                </a:solidFill>
                <a:latin typeface="Microsoft YaHei"/>
              </a:rPr>
              <a:t>mask 越多 → 目标 concept length 越长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Luo et al., VCM, arXiv:2504.19627v2 (2025)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目标长度估计：把文本先验映射为每个样本的 concept budget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822960" y="1389888"/>
            <a:ext cx="274320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1572768"/>
            <a:ext cx="118872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900" b="1">
                <a:solidFill>
                  <a:srgbClr val="EE7733"/>
                </a:solidFill>
                <a:latin typeface="Arial"/>
              </a:rPr>
              <a:t>Nₖₑᵧ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93392"/>
            <a:ext cx="18288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5D6770"/>
                </a:solidFill>
                <a:latin typeface="Microsoft YaHei"/>
              </a:rPr>
              <a:t>instruction 与 response
关键词数量差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11880" y="1984248"/>
            <a:ext cx="841248" cy="0"/>
          </a:xfrm>
          <a:prstGeom prst="line">
            <a:avLst/>
          </a:prstGeom>
          <a:ln w="29209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44568" y="1389888"/>
            <a:ext cx="3090672" cy="1170432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627632"/>
            <a:ext cx="257860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2770B1"/>
                </a:solidFill>
                <a:latin typeface="Arial"/>
              </a:rPr>
              <a:t>Min–max normalization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029968"/>
            <a:ext cx="20116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5D6770"/>
                </a:solidFill>
                <a:latin typeface="Microsoft YaHei"/>
              </a:rPr>
              <a:t>控制信息需求比例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99248" y="1984248"/>
            <a:ext cx="822960" cy="0"/>
          </a:xfrm>
          <a:prstGeom prst="line">
            <a:avLst/>
          </a:prstGeom>
          <a:ln w="29209">
            <a:solidFill>
              <a:srgbClr val="0099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13648" y="1389888"/>
            <a:ext cx="269748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1627632"/>
            <a:ext cx="210312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009988"/>
                </a:solidFill>
                <a:latin typeface="Arial"/>
              </a:rPr>
              <a:t>Target length 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2029968"/>
            <a:ext cx="18288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5D6770"/>
                </a:solidFill>
                <a:latin typeface="Microsoft YaHei"/>
              </a:rPr>
              <a:t>动态、样本级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3063240"/>
            <a:ext cx="8458200" cy="932688"/>
          </a:xfrm>
          <a:prstGeom prst="rect">
            <a:avLst/>
          </a:prstGeom>
          <a:solidFill>
            <a:srgbClr val="E6F1FA"/>
          </a:solidFill>
          <a:ln w="1524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0280" y="3264408"/>
            <a:ext cx="7726679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07467C"/>
                </a:solidFill>
                <a:latin typeface="Arial"/>
              </a:rPr>
              <a:t>L = ⌊ M · S · (1 − Norm(Nₖₑᵧ)) ⌋</a:t>
            </a:r>
          </a:p>
        </p:txBody>
      </p:sp>
      <p:sp>
        <p:nvSpPr>
          <p:cNvPr id="17" name="Oval 16"/>
          <p:cNvSpPr/>
          <p:nvPr/>
        </p:nvSpPr>
        <p:spPr>
          <a:xfrm>
            <a:off x="1920240" y="4407408"/>
            <a:ext cx="530352" cy="530352"/>
          </a:xfrm>
          <a:prstGeom prst="ellipse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8" y="4526280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4434840"/>
            <a:ext cx="196596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Microsoft YaHei"/>
              </a:rPr>
              <a:t>原始 token 数</a:t>
            </a:r>
          </a:p>
        </p:txBody>
      </p:sp>
      <p:sp>
        <p:nvSpPr>
          <p:cNvPr id="20" name="Oval 19"/>
          <p:cNvSpPr/>
          <p:nvPr/>
        </p:nvSpPr>
        <p:spPr>
          <a:xfrm>
            <a:off x="4846320" y="4407408"/>
            <a:ext cx="530352" cy="530352"/>
          </a:xfrm>
          <a:prstGeom prst="ellipse">
            <a:avLst/>
          </a:prstGeom>
          <a:solidFill>
            <a:srgbClr val="EE773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4526280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4434840"/>
            <a:ext cx="196596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Microsoft YaHei"/>
              </a:rPr>
              <a:t>information domain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0" y="4407408"/>
            <a:ext cx="530352" cy="530352"/>
          </a:xfrm>
          <a:prstGeom prst="ellipse">
            <a:avLst/>
          </a:prstGeom>
          <a:solidFill>
            <a:srgbClr val="00998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7" y="4526280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4434840"/>
            <a:ext cx="196596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Microsoft YaHei"/>
              </a:rPr>
              <a:t>mask ratio 控制柄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文本先验只告诉模型“保留多少”，下一步仍需解决“保留哪些位置”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Luo et al., VCM, arXiv:2504.19627v2 (2025)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Forward–Backward：在所有合法对齐路径上学习 token 位置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097280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2770B1"/>
                </a:solidFill>
                <a:latin typeface="Arial"/>
              </a:rPr>
              <a:t>Input vision sequence Yᵥ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554480"/>
            <a:ext cx="420624" cy="420624"/>
          </a:xfrm>
          <a:prstGeom prst="rect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36776"/>
            <a:ext cx="384048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y1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1554480"/>
            <a:ext cx="420624" cy="420624"/>
          </a:xfrm>
          <a:prstGeom prst="rect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1636776"/>
            <a:ext cx="384048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y2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1952" y="1554480"/>
            <a:ext cx="420624" cy="420624"/>
          </a:xfrm>
          <a:prstGeom prst="rect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636776"/>
            <a:ext cx="384048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y3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8024" y="1554480"/>
            <a:ext cx="420624" cy="420624"/>
          </a:xfrm>
          <a:prstGeom prst="rect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2" y="1636776"/>
            <a:ext cx="384048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y4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54096" y="1554480"/>
            <a:ext cx="420624" cy="420624"/>
          </a:xfrm>
          <a:prstGeom prst="rect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2384" y="1636776"/>
            <a:ext cx="384048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y5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0168" y="1554480"/>
            <a:ext cx="420624" cy="420624"/>
          </a:xfrm>
          <a:prstGeom prst="rect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1636776"/>
            <a:ext cx="384048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y6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554480"/>
            <a:ext cx="420624" cy="420624"/>
          </a:xfrm>
          <a:prstGeom prst="rect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1636776"/>
            <a:ext cx="384048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y7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82312" y="1554480"/>
            <a:ext cx="420624" cy="420624"/>
          </a:xfrm>
          <a:prstGeom prst="rect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636776"/>
            <a:ext cx="384048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y8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1097280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09988"/>
                </a:solidFill>
                <a:latin typeface="Arial"/>
              </a:rPr>
              <a:t>Extended target Zᵥ</a:t>
            </a:r>
          </a:p>
        </p:txBody>
      </p:sp>
      <p:sp>
        <p:nvSpPr>
          <p:cNvPr id="22" name="Oval 21"/>
          <p:cNvSpPr/>
          <p:nvPr/>
        </p:nvSpPr>
        <p:spPr>
          <a:xfrm>
            <a:off x="6720840" y="1490472"/>
            <a:ext cx="493776" cy="49377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600200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9988"/>
                </a:solidFill>
                <a:latin typeface="Arial"/>
              </a:rPr>
              <a:t>∅</a:t>
            </a:r>
          </a:p>
        </p:txBody>
      </p:sp>
      <p:sp>
        <p:nvSpPr>
          <p:cNvPr id="24" name="Oval 23"/>
          <p:cNvSpPr/>
          <p:nvPr/>
        </p:nvSpPr>
        <p:spPr>
          <a:xfrm>
            <a:off x="7488936" y="1490472"/>
            <a:ext cx="493776" cy="493776"/>
          </a:xfrm>
          <a:prstGeom prst="ellipse">
            <a:avLst/>
          </a:prstGeom>
          <a:solidFill>
            <a:srgbClr val="009988"/>
          </a:solidFill>
          <a:ln w="1524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0376" y="1600200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★</a:t>
            </a:r>
          </a:p>
        </p:txBody>
      </p:sp>
      <p:sp>
        <p:nvSpPr>
          <p:cNvPr id="26" name="Oval 25"/>
          <p:cNvSpPr/>
          <p:nvPr/>
        </p:nvSpPr>
        <p:spPr>
          <a:xfrm>
            <a:off x="8257031" y="1490472"/>
            <a:ext cx="493776" cy="49377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1600200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9988"/>
                </a:solidFill>
                <a:latin typeface="Arial"/>
              </a:rPr>
              <a:t>∅</a:t>
            </a:r>
          </a:p>
        </p:txBody>
      </p:sp>
      <p:sp>
        <p:nvSpPr>
          <p:cNvPr id="28" name="Oval 27"/>
          <p:cNvSpPr/>
          <p:nvPr/>
        </p:nvSpPr>
        <p:spPr>
          <a:xfrm>
            <a:off x="9025128" y="1490472"/>
            <a:ext cx="493776" cy="493776"/>
          </a:xfrm>
          <a:prstGeom prst="ellipse">
            <a:avLst/>
          </a:prstGeom>
          <a:solidFill>
            <a:srgbClr val="009988"/>
          </a:solidFill>
          <a:ln w="1524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16568" y="1600200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★</a:t>
            </a:r>
          </a:p>
        </p:txBody>
      </p:sp>
      <p:sp>
        <p:nvSpPr>
          <p:cNvPr id="30" name="Oval 29"/>
          <p:cNvSpPr/>
          <p:nvPr/>
        </p:nvSpPr>
        <p:spPr>
          <a:xfrm>
            <a:off x="9793224" y="1490472"/>
            <a:ext cx="493776" cy="49377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84664" y="1600200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9988"/>
                </a:solidFill>
                <a:latin typeface="Arial"/>
              </a:rPr>
              <a:t>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2560320"/>
            <a:ext cx="132588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500" b="1">
                <a:solidFill>
                  <a:srgbClr val="2770B1"/>
                </a:solidFill>
                <a:latin typeface="Arial"/>
              </a:rPr>
              <a:t>α(t,l)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035808"/>
            <a:ext cx="141732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5D6770"/>
                </a:solidFill>
                <a:latin typeface="Arial"/>
              </a:rPr>
              <a:t>Forward
prefix alignment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14600" y="2971800"/>
            <a:ext cx="1600200" cy="0"/>
          </a:xfrm>
          <a:prstGeom prst="line">
            <a:avLst/>
          </a:prstGeom>
          <a:ln w="31750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224528" y="2331720"/>
            <a:ext cx="3749039" cy="1261872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2587752"/>
            <a:ext cx="324612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07467C"/>
                </a:solidFill>
                <a:latin typeface="Arial"/>
              </a:rPr>
              <a:t>p(Zᵥ|Yᵥ) = Σₗ α(t,l) · β(t,l)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0872" y="3035808"/>
            <a:ext cx="2834640" cy="3017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CE2636"/>
                </a:solidFill>
                <a:latin typeface="Arial"/>
              </a:rPr>
              <a:t>Lᵥ꜀ₘ = −log p(Zᵥ|Yᵥ)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083296" y="2971800"/>
            <a:ext cx="1563624" cy="0"/>
          </a:xfrm>
          <a:prstGeom prst="line">
            <a:avLst/>
          </a:prstGeom>
          <a:ln w="31750">
            <a:solidFill>
              <a:srgbClr val="0099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738360" y="2560320"/>
            <a:ext cx="132588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500" b="1">
                <a:solidFill>
                  <a:srgbClr val="009988"/>
                </a:solidFill>
                <a:latin typeface="Arial"/>
              </a:rPr>
              <a:t>β(t,l)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3035808"/>
            <a:ext cx="141732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5D6770"/>
                </a:solidFill>
                <a:latin typeface="Arial"/>
              </a:rPr>
              <a:t>Backward
suffix alignment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61872" y="4315968"/>
            <a:ext cx="27889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08760" y="4443984"/>
            <a:ext cx="230428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CE2636"/>
                </a:solidFill>
                <a:latin typeface="Microsoft YaHei"/>
              </a:rPr>
              <a:t>暴力枚举：O(2ᴹ)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160520" y="4626864"/>
            <a:ext cx="576072" cy="0"/>
          </a:xfrm>
          <a:prstGeom prst="line">
            <a:avLst/>
          </a:prstGeom>
          <a:ln w="2032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864608" y="4315968"/>
            <a:ext cx="2788920" cy="640080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02352" y="4443984"/>
            <a:ext cx="230428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2770B1"/>
                </a:solidFill>
                <a:latin typeface="Microsoft YaHei"/>
              </a:rPr>
              <a:t>动态规划：O(M²)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0" y="4626864"/>
            <a:ext cx="566927" cy="0"/>
          </a:xfrm>
          <a:prstGeom prst="line">
            <a:avLst/>
          </a:prstGeom>
          <a:ln w="20320">
            <a:solidFill>
              <a:srgbClr val="5D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458200" y="4315968"/>
            <a:ext cx="2487168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14232" y="4443984"/>
            <a:ext cx="1993392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009988"/>
                </a:solidFill>
                <a:latin typeface="Microsoft YaHei"/>
              </a:rPr>
              <a:t>可端到端优化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训练最大化所有可行路径；推理选择最可能路径，再进行 Segment Merging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Luo et al., VCM, arXiv:2504.19627v2 (2025)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从 token 到 concept：选择路径后进行连续片段加权合并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1188720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2770B1"/>
                </a:solidFill>
                <a:latin typeface="Arial"/>
              </a:rPr>
              <a:t>Vision tokens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1700784"/>
            <a:ext cx="502920" cy="658368"/>
          </a:xfrm>
          <a:prstGeom prst="rect">
            <a:avLst/>
          </a:prstGeom>
          <a:solidFill>
            <a:srgbClr val="E0E5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46634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5D6770"/>
                </a:solidFill>
                <a:latin typeface="Arial"/>
              </a:rPr>
              <a:t>0.10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700784"/>
            <a:ext cx="502920" cy="658368"/>
          </a:xfrm>
          <a:prstGeom prst="rect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1901952"/>
            <a:ext cx="46634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0.82</a:t>
            </a:r>
          </a:p>
        </p:txBody>
      </p:sp>
      <p:sp>
        <p:nvSpPr>
          <p:cNvPr id="9" name="Rectangle 8"/>
          <p:cNvSpPr/>
          <p:nvPr/>
        </p:nvSpPr>
        <p:spPr>
          <a:xfrm>
            <a:off x="2121408" y="1700784"/>
            <a:ext cx="502920" cy="658368"/>
          </a:xfrm>
          <a:prstGeom prst="rect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9696" y="1901952"/>
            <a:ext cx="46634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0.75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700784"/>
            <a:ext cx="502920" cy="658368"/>
          </a:xfrm>
          <a:prstGeom prst="rect">
            <a:avLst/>
          </a:prstGeom>
          <a:solidFill>
            <a:srgbClr val="E0E5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98064" y="1901952"/>
            <a:ext cx="46634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5D6770"/>
                </a:solidFill>
                <a:latin typeface="Arial"/>
              </a:rPr>
              <a:t>0.12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8144" y="1700784"/>
            <a:ext cx="502920" cy="658368"/>
          </a:xfrm>
          <a:prstGeom prst="rect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901952"/>
            <a:ext cx="46634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0.88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96511" y="1700784"/>
            <a:ext cx="502920" cy="658368"/>
          </a:xfrm>
          <a:prstGeom prst="rect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901952"/>
            <a:ext cx="46634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0.79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700784"/>
            <a:ext cx="502920" cy="658368"/>
          </a:xfrm>
          <a:prstGeom prst="rect">
            <a:avLst/>
          </a:prstGeom>
          <a:solidFill>
            <a:srgbClr val="E0E5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1901952"/>
            <a:ext cx="46634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5D6770"/>
                </a:solidFill>
                <a:latin typeface="Arial"/>
              </a:rPr>
              <a:t>0.15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13248" y="1700784"/>
            <a:ext cx="502920" cy="658368"/>
          </a:xfrm>
          <a:prstGeom prst="rect">
            <a:avLst/>
          </a:prstGeom>
          <a:solidFill>
            <a:srgbClr val="E0E5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1901952"/>
            <a:ext cx="46634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0">
                <a:solidFill>
                  <a:srgbClr val="5D6770"/>
                </a:solidFill>
                <a:latin typeface="Arial"/>
              </a:rPr>
              <a:t>0.08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2496312"/>
            <a:ext cx="3749039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009988"/>
                </a:solidFill>
                <a:latin typeface="Arial"/>
              </a:rPr>
              <a:t>★   ★        ★   ★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72200" y="2057400"/>
            <a:ext cx="640080" cy="0"/>
          </a:xfrm>
          <a:prstGeom prst="line">
            <a:avLst/>
          </a:prstGeom>
          <a:ln w="31750">
            <a:solidFill>
              <a:srgbClr val="0099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67728" y="1417320"/>
            <a:ext cx="1508760" cy="1234440"/>
          </a:xfrm>
          <a:prstGeom prst="roundRect">
            <a:avLst/>
          </a:prstGeom>
          <a:solidFill>
            <a:srgbClr val="E6F1FA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1828800"/>
            <a:ext cx="1078992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7467C"/>
                </a:solidFill>
                <a:latin typeface="Arial"/>
              </a:rPr>
              <a:t>Concept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1417320"/>
            <a:ext cx="1508760" cy="1234440"/>
          </a:xfrm>
          <a:prstGeom prst="roundRect">
            <a:avLst/>
          </a:prstGeom>
          <a:solidFill>
            <a:srgbClr val="E8F7F0"/>
          </a:solidFill>
          <a:ln w="1524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828800"/>
            <a:ext cx="1078992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9988"/>
                </a:solidFill>
                <a:latin typeface="Arial"/>
              </a:rPr>
              <a:t>Concept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761488"/>
            <a:ext cx="3364992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5D6770"/>
                </a:solidFill>
                <a:latin typeface="Arial"/>
              </a:rPr>
              <a:t>score-weighted average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26679" y="3246120"/>
            <a:ext cx="0" cy="457200"/>
          </a:xfrm>
          <a:prstGeom prst="line">
            <a:avLst/>
          </a:prstGeom>
          <a:ln w="20320">
            <a:solidFill>
              <a:srgbClr val="0746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46920" y="3246120"/>
            <a:ext cx="0" cy="457200"/>
          </a:xfrm>
          <a:prstGeom prst="line">
            <a:avLst/>
          </a:prstGeom>
          <a:ln w="20320">
            <a:solidFill>
              <a:srgbClr val="0746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784848" y="3794760"/>
            <a:ext cx="3840480" cy="1005840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3986784"/>
            <a:ext cx="33375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07467C"/>
                </a:solidFill>
                <a:latin typeface="Arial"/>
              </a:rPr>
              <a:t>[Global token; Hᵥᶜ; Instruction]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4343400"/>
            <a:ext cx="29077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5D6770"/>
                </a:solidFill>
                <a:latin typeface="Arial"/>
              </a:rPr>
              <a:t>→ Large Language 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" y="3383280"/>
            <a:ext cx="4434840" cy="12252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" y="3584448"/>
            <a:ext cx="96012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EE7733"/>
                </a:solidFill>
                <a:latin typeface="Microsoft YaHei"/>
              </a:rPr>
              <a:t>物理含义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3474720"/>
            <a:ext cx="301752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1E2328"/>
                </a:solidFill>
                <a:latin typeface="Microsoft YaHei"/>
              </a:rPr>
              <a:t>连续保留区域形成一个 concept；
相邻关系与空间顺序不被打乱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Segment Merging 的并行实现比双重循环快约 100×（论文 Appendix E）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Luo et al., VCM, arXiv:2504.19627v2 (2025)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结果一：显著减少计算量，同时保持强性能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34440"/>
          <a:ext cx="512064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263640" y="1353312"/>
            <a:ext cx="1965960" cy="1444752"/>
          </a:xfrm>
          <a:prstGeom prst="roundRect">
            <a:avLst/>
          </a:prstGeom>
          <a:solidFill>
            <a:srgbClr val="F4F9FD"/>
          </a:solidFill>
          <a:ln w="2286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150876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3900" b="1">
                <a:solidFill>
                  <a:srgbClr val="2770B1"/>
                </a:solidFill>
                <a:latin typeface="Arial"/>
              </a:rPr>
              <a:t>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2176272"/>
            <a:ext cx="16002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Microsoft YaHei"/>
              </a:rPr>
              <a:t>理论 FLOPs reduction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353312"/>
            <a:ext cx="1965960" cy="14447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5672" y="1645920"/>
            <a:ext cx="162763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500" b="1">
                <a:solidFill>
                  <a:srgbClr val="EE7733"/>
                </a:solidFill>
                <a:latin typeface="Arial"/>
              </a:rPr>
              <a:t>31.42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2176272"/>
            <a:ext cx="14630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Arial"/>
              </a:rPr>
              <a:t>VCM-128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55264"/>
            <a:ext cx="4343400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474720"/>
            <a:ext cx="141732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009988"/>
                </a:solidFill>
                <a:latin typeface="Arial"/>
              </a:rPr>
              <a:t>62.0% Avg.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3931920"/>
            <a:ext cx="10789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D6770"/>
                </a:solidFill>
                <a:latin typeface="Arial"/>
              </a:rPr>
              <a:t>VCM-128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63931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5D6770"/>
                </a:solidFill>
                <a:latin typeface="Arial"/>
              </a:rPr>
              <a:t>vs.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474720"/>
            <a:ext cx="141732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5D6770"/>
                </a:solidFill>
                <a:latin typeface="Arial"/>
              </a:rPr>
              <a:t>61.6% Avg.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3931920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D6770"/>
                </a:solidFill>
                <a:latin typeface="Arial"/>
              </a:rPr>
              <a:t>LLaVA-1.5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压缩带来的不是单纯速度收益：VCM-128 的平均表现还略高于 576-token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Paper Appendix D and Table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结果二：仅用 144 tokens，11 个 VQA benchmark 平均性能更高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13232" y="1234440"/>
          <a:ext cx="65379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389888"/>
            <a:ext cx="3493008" cy="1051560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572768"/>
            <a:ext cx="2852928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800" b="1">
                <a:solidFill>
                  <a:srgbClr val="07467C"/>
                </a:solidFill>
                <a:latin typeface="Arial"/>
              </a:rPr>
              <a:t>144 / 576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011680"/>
            <a:ext cx="25786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Microsoft YaHei"/>
              </a:rPr>
              <a:t>仅保留 25% vision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34640"/>
            <a:ext cx="118872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5D6770"/>
                </a:solidFill>
                <a:latin typeface="Arial"/>
              </a:rPr>
              <a:t>VizWiz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2834640"/>
            <a:ext cx="109728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800" b="1">
                <a:solidFill>
                  <a:srgbClr val="2770B1"/>
                </a:solidFill>
                <a:latin typeface="Arial"/>
              </a:rPr>
              <a:t>+4.9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547872"/>
            <a:ext cx="118872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5D6770"/>
                </a:solidFill>
                <a:latin typeface="Arial"/>
              </a:rPr>
              <a:t>SEED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547872"/>
            <a:ext cx="109728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800" b="1">
                <a:solidFill>
                  <a:srgbClr val="009988"/>
                </a:solidFill>
                <a:latin typeface="Arial"/>
              </a:rPr>
              <a:t>+5.7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261104"/>
            <a:ext cx="118872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5D6770"/>
                </a:solidFill>
                <a:latin typeface="Arial"/>
              </a:rPr>
              <a:t>MMStar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4261104"/>
            <a:ext cx="109728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800" b="1">
                <a:solidFill>
                  <a:srgbClr val="EE7733"/>
                </a:solidFill>
                <a:latin typeface="Arial"/>
              </a:rPr>
              <a:t>+2.5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5047488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D6770"/>
                </a:solidFill>
                <a:latin typeface="Arial"/>
              </a:rPr>
              <a:t>Δ vs. LLaVA-v1.5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VCM 以更少的 token 获得最高平均分，说明学习到的 concepts 比简单剪枝更具表示力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Paper Table 1; averages reported by the authors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结果三：压缩之外，VCM 还增强 dense perception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58368" y="1261872"/>
          <a:ext cx="658368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25880" y="1051560"/>
            <a:ext cx="53035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5D6770"/>
                </a:solidFill>
                <a:latin typeface="Arial"/>
              </a:rPr>
              <a:t>Region-level VQA &amp; zero-shot classification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71600"/>
            <a:ext cx="3611880" cy="1097280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65008" y="1581912"/>
            <a:ext cx="2761488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07467C"/>
                </a:solidFill>
                <a:latin typeface="Microsoft YaHei"/>
              </a:rPr>
              <a:t>空间语义更清晰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993392"/>
            <a:ext cx="278892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Microsoft YaHei"/>
              </a:rPr>
              <a:t>dense features 更易聚类为对象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834640"/>
            <a:ext cx="36118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5008" y="3044952"/>
            <a:ext cx="2761488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009988"/>
                </a:solidFill>
                <a:latin typeface="Microsoft YaHei"/>
              </a:rPr>
              <a:t>任务适用范围扩大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2" y="3456432"/>
            <a:ext cx="310896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Arial"/>
              </a:rPr>
              <a:t>Detection · Segmentation ·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370832"/>
            <a:ext cx="340156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0">
                <a:solidFill>
                  <a:srgbClr val="1E2328"/>
                </a:solidFill>
                <a:latin typeface="Microsoft YaHei"/>
              </a:rPr>
              <a:t>不是“少看”，而是</a:t>
            </a:r>
            <a:r>
              <a:rPr sz="1700" b="1">
                <a:solidFill>
                  <a:srgbClr val="CE2636"/>
                </a:solidFill>
                <a:latin typeface="Microsoft YaHei"/>
              </a:rPr>
              <a:t>“看得更聚焦”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概念级训练改善了视觉编码器：效率提升与细粒度感知增强可以同时发生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Paper Table 2 (ViT-L/14 rows)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消融实验：性能提升来自逐步叠加的完整设计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49808" y="1280160"/>
          <a:ext cx="66294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54112" y="1389888"/>
            <a:ext cx="3310128" cy="3429000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9872" y="1664208"/>
            <a:ext cx="257860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07467C"/>
                </a:solidFill>
                <a:latin typeface="Microsoft YaHei"/>
              </a:rPr>
              <a:t>最佳 information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0768" y="2212848"/>
            <a:ext cx="19659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3000" b="1">
                <a:solidFill>
                  <a:srgbClr val="CE2636"/>
                </a:solidFill>
                <a:latin typeface="Arial"/>
              </a:rPr>
              <a:t>S = 1/4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30768" y="2944368"/>
            <a:ext cx="1965960" cy="0"/>
          </a:xfrm>
          <a:prstGeom prst="line">
            <a:avLst/>
          </a:prstGeom>
          <a:ln w="2032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56448" y="3182112"/>
            <a:ext cx="2514600" cy="118872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328"/>
                </a:solidFill>
                <a:latin typeface="Microsoft YaHei"/>
              </a:defRPr>
            </a:pPr>
            <a:r>
              <a:t>• 144 max tokens</a:t>
            </a:r>
          </a:p>
          <a:p>
            <a:pPr>
              <a:spcAft>
                <a:spcPts val="500"/>
              </a:spcAft>
              <a:defRPr sz="1400">
                <a:solidFill>
                  <a:srgbClr val="1E2328"/>
                </a:solidFill>
                <a:latin typeface="Microsoft YaHei"/>
              </a:defRPr>
            </a:pPr>
            <a:r>
              <a:t>• 平均性能 59.3</a:t>
            </a:r>
          </a:p>
          <a:p>
            <a:pPr>
              <a:spcAft>
                <a:spcPts val="500"/>
              </a:spcAft>
              <a:defRPr sz="1400">
                <a:solidFill>
                  <a:srgbClr val="1E2328"/>
                </a:solidFill>
                <a:latin typeface="Microsoft YaHei"/>
              </a:defRPr>
            </a:pPr>
            <a:r>
              <a:t>• 成本–性能折中最佳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ε(r)、加权合并、语义对齐与 mask strategy 均有独立贡献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Paper Table 4; four-benchmark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泛化：高分辨率、视频与不同架构都能受益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13232" y="1298448"/>
            <a:ext cx="3346704" cy="356616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618488"/>
            <a:ext cx="2889504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2770B1"/>
                </a:solidFill>
                <a:latin typeface="Arial"/>
              </a:rPr>
              <a:t>High-resolution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359152"/>
            <a:ext cx="2706624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1E2328"/>
                </a:solidFill>
                <a:latin typeface="Arial"/>
              </a:rPr>
              <a:t>2880 → 160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290779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Arial"/>
              </a:rPr>
              <a:t>vision tokens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3410712"/>
            <a:ext cx="2395728" cy="0"/>
          </a:xfrm>
          <a:prstGeom prst="line">
            <a:avLst/>
          </a:prstGeom>
          <a:ln w="2032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53312" y="3730752"/>
            <a:ext cx="205740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2770B1"/>
                </a:solidFill>
                <a:latin typeface="Arial"/>
              </a:rPr>
              <a:t>70.1 Avg.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4224528"/>
            <a:ext cx="20574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D6770"/>
                </a:solidFill>
                <a:latin typeface="Arial"/>
              </a:rPr>
              <a:t>benchmark average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5424" y="1298448"/>
            <a:ext cx="3346704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4024" y="1618488"/>
            <a:ext cx="2889504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EE7733"/>
                </a:solidFill>
                <a:latin typeface="Arial"/>
              </a:rPr>
              <a:t>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359152"/>
            <a:ext cx="2706624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1E2328"/>
                </a:solidFill>
                <a:latin typeface="Arial"/>
              </a:rPr>
              <a:t>2048 → 136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290779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Arial"/>
              </a:rPr>
              <a:t>vision tokens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0912" y="3410712"/>
            <a:ext cx="2395728" cy="0"/>
          </a:xfrm>
          <a:prstGeom prst="line">
            <a:avLst/>
          </a:prstGeom>
          <a:ln w="2032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75504" y="3730752"/>
            <a:ext cx="205740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EE7733"/>
                </a:solidFill>
                <a:latin typeface="Arial"/>
              </a:rPr>
              <a:t>52.5 Avg.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4224528"/>
            <a:ext cx="20574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D6770"/>
                </a:solidFill>
                <a:latin typeface="Arial"/>
              </a:rPr>
              <a:t>benchmark average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7615" y="1298448"/>
            <a:ext cx="3346704" cy="3566160"/>
          </a:xfrm>
          <a:prstGeom prst="roundRect">
            <a:avLst/>
          </a:prstGeom>
          <a:solidFill>
            <a:srgbClr val="F4F9FD"/>
          </a:solidFill>
          <a:ln w="1905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5" y="1618488"/>
            <a:ext cx="2889504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009988"/>
                </a:solidFill>
                <a:latin typeface="Arial"/>
              </a:rPr>
              <a:t>Qwen2-VL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7655" y="2359152"/>
            <a:ext cx="2706624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1E2328"/>
                </a:solidFill>
                <a:latin typeface="Arial"/>
              </a:rPr>
              <a:t>1326 → 576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5" y="290779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5D6770"/>
                </a:solidFill>
                <a:latin typeface="Arial"/>
              </a:rPr>
              <a:t>vision tokens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33103" y="3410712"/>
            <a:ext cx="2395729" cy="0"/>
          </a:xfrm>
          <a:prstGeom prst="line">
            <a:avLst/>
          </a:prstGeom>
          <a:ln w="2032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997695" y="3730752"/>
            <a:ext cx="205740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009988"/>
                </a:solidFill>
                <a:latin typeface="Arial"/>
              </a:rPr>
              <a:t>69.6 Avg.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5" y="4224528"/>
            <a:ext cx="20574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D6770"/>
                </a:solidFill>
                <a:latin typeface="Arial"/>
              </a:rPr>
              <a:t>benchmark average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VCM 是可移植的 vision concept modeling 机制，而不是只针对单一 LLaVA 设置的技巧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Paper Tables 7–9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边界与仍待解决的问题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28016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2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1618488"/>
            <a:ext cx="566928" cy="566928"/>
          </a:xfrm>
          <a:prstGeom prst="ellipse">
            <a:avLst/>
          </a:prstGeom>
          <a:solidFill>
            <a:srgbClr val="CE263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517904"/>
            <a:ext cx="37033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CE2636"/>
                </a:solidFill>
                <a:latin typeface="Arial"/>
              </a:rPr>
              <a:t>Keyword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47672"/>
            <a:ext cx="3749039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1E2328"/>
                </a:solidFill>
                <a:latin typeface="Microsoft YaHei"/>
              </a:rPr>
              <a:t>自适应关键词不一定等于真实视觉概念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212080" cy="1417320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EE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6832" y="1618488"/>
            <a:ext cx="566928" cy="566928"/>
          </a:xfrm>
          <a:prstGeom prst="ellipse">
            <a:avLst/>
          </a:prstGeom>
          <a:solidFill>
            <a:srgbClr val="EE773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1737360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517904"/>
            <a:ext cx="37033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EE7733"/>
                </a:solidFill>
                <a:latin typeface="Arial"/>
              </a:rPr>
              <a:t>Coarse length prior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947672"/>
            <a:ext cx="3749039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1E2328"/>
                </a:solidFill>
                <a:latin typeface="Microsoft YaHei"/>
              </a:rPr>
              <a:t>Min–max length estimation 较粗粒度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54679"/>
            <a:ext cx="5212080" cy="1417320"/>
          </a:xfrm>
          <a:prstGeom prst="roundRect">
            <a:avLst/>
          </a:prstGeom>
          <a:solidFill>
            <a:srgbClr val="F4F9FD"/>
          </a:solidFill>
          <a:ln w="1524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552" y="3493008"/>
            <a:ext cx="566928" cy="566928"/>
          </a:xfrm>
          <a:prstGeom prst="ellipse">
            <a:avLst/>
          </a:prstGeom>
          <a:solidFill>
            <a:srgbClr val="2770B1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611879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392424"/>
            <a:ext cx="37033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2770B1"/>
                </a:solidFill>
                <a:latin typeface="Arial"/>
              </a:rPr>
              <a:t>External supervision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822191"/>
            <a:ext cx="3749039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1E2328"/>
                </a:solidFill>
                <a:latin typeface="Microsoft YaHei"/>
              </a:rPr>
              <a:t>相关性分析使用 GPT-4o 识别与评判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154679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56832" y="3493008"/>
            <a:ext cx="566928" cy="566928"/>
          </a:xfrm>
          <a:prstGeom prst="ellipse">
            <a:avLst/>
          </a:prstGeom>
          <a:solidFill>
            <a:srgbClr val="00998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3611879"/>
            <a:ext cx="31089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392424"/>
            <a:ext cx="37033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009988"/>
                </a:solidFill>
                <a:latin typeface="Arial"/>
              </a:rPr>
              <a:t>Evaluation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822191"/>
            <a:ext cx="3749039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1E2328"/>
                </a:solidFill>
                <a:latin typeface="Microsoft YaHei"/>
              </a:rPr>
              <a:t>概念可解释性仍主要依赖定性证据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650992"/>
            <a:ext cx="9902952" cy="502920"/>
          </a:xfrm>
          <a:prstGeom prst="rect">
            <a:avLst/>
          </a:prstGeom>
          <a:solidFill>
            <a:srgbClr val="FFFFFF"/>
          </a:solidFill>
          <a:ln w="13970"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5705855"/>
            <a:ext cx="95371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770B1"/>
                </a:solidFill>
                <a:latin typeface="Microsoft YaHei"/>
              </a:rPr>
              <a:t>结论成立于论文实验范围内；“concept”质量、偏差与可解释性仍需要更直接的测量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Paper Section I (Limitations) plus presentation-level critical reading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E2328"/>
                </a:solidFill>
                <a:latin typeface="Microsoft YaHei"/>
              </a:rPr>
              <a:t>Take-home message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841248"/>
            <a:ext cx="10972800" cy="0"/>
          </a:xfrm>
          <a:prstGeom prst="line">
            <a:avLst/>
          </a:prstGeom>
          <a:ln w="10160">
            <a:solidFill>
              <a:srgbClr val="E0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68680" y="1152144"/>
            <a:ext cx="6858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CE2636"/>
                </a:solidFill>
                <a:latin typeface="Arial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91640" y="1408176"/>
            <a:ext cx="548640" cy="0"/>
          </a:xfrm>
          <a:prstGeom prst="line">
            <a:avLst/>
          </a:prstGeom>
          <a:ln w="25400">
            <a:solidFill>
              <a:srgbClr val="CE2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50592" y="1152144"/>
            <a:ext cx="102412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CE2636"/>
                </a:solidFill>
                <a:latin typeface="Microsoft YaHei"/>
              </a:rPr>
              <a:t>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152144"/>
            <a:ext cx="69951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000" b="0">
                <a:solidFill>
                  <a:srgbClr val="1E2328"/>
                </a:solidFill>
                <a:latin typeface="Microsoft YaHei"/>
              </a:rPr>
              <a:t>token-level 冗余限制 LVLM 扩展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6858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2770B1"/>
                </a:solidFill>
                <a:latin typeface="Arial"/>
              </a:rPr>
              <a:t>02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91640" y="2523744"/>
            <a:ext cx="548640" cy="0"/>
          </a:xfrm>
          <a:prstGeom prst="line">
            <a:avLst/>
          </a:prstGeom>
          <a:ln w="25400">
            <a:solidFill>
              <a:srgbClr val="2770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50592" y="2267712"/>
            <a:ext cx="102412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2770B1"/>
                </a:solidFill>
                <a:latin typeface="Microsoft YaHei"/>
              </a:rPr>
              <a:t>原则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267712"/>
            <a:ext cx="69951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000" b="0">
                <a:solidFill>
                  <a:srgbClr val="1E2328"/>
                </a:solidFill>
                <a:latin typeface="Microsoft YaHei"/>
              </a:rPr>
              <a:t>由 instruction 决定看多少、看哪里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83280"/>
            <a:ext cx="6858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EE7733"/>
                </a:solidFill>
                <a:latin typeface="Arial"/>
              </a:rPr>
              <a:t>03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91640" y="3639312"/>
            <a:ext cx="548640" cy="0"/>
          </a:xfrm>
          <a:prstGeom prst="line">
            <a:avLst/>
          </a:prstGeom>
          <a:ln w="25400">
            <a:solidFill>
              <a:srgbClr val="EE7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50592" y="3383280"/>
            <a:ext cx="102412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EE7733"/>
                </a:solidFill>
                <a:latin typeface="Microsoft YaHei"/>
              </a:rPr>
              <a:t>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383280"/>
            <a:ext cx="69951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000" b="0">
                <a:solidFill>
                  <a:srgbClr val="1E2328"/>
                </a:solidFill>
                <a:latin typeface="Microsoft YaHei"/>
              </a:rPr>
              <a:t>语义对齐 + 动态长度 + forward–backward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98848"/>
            <a:ext cx="6858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400" b="1">
                <a:solidFill>
                  <a:srgbClr val="009988"/>
                </a:solidFill>
                <a:latin typeface="Arial"/>
              </a:rPr>
              <a:t>04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91640" y="4754880"/>
            <a:ext cx="548640" cy="0"/>
          </a:xfrm>
          <a:prstGeom prst="line">
            <a:avLst/>
          </a:prstGeom>
          <a:ln w="25400">
            <a:solidFill>
              <a:srgbClr val="0099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50592" y="4498848"/>
            <a:ext cx="1024128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009988"/>
                </a:solidFill>
                <a:latin typeface="Microsoft YaHei"/>
              </a:rPr>
              <a:t>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498848"/>
            <a:ext cx="69951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1E2328"/>
                </a:solidFill>
                <a:latin typeface="Microsoft YaHei"/>
              </a:rPr>
              <a:t>最高 85% FLOPs reduction，性能保持或提升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705856"/>
            <a:ext cx="9875520" cy="530352"/>
          </a:xfrm>
          <a:prstGeom prst="rect">
            <a:avLst/>
          </a:prstGeom>
          <a:solidFill>
            <a:srgbClr val="07467C"/>
          </a:solidFill>
          <a:ln w="15240">
            <a:solidFill>
              <a:srgbClr val="07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5779008"/>
            <a:ext cx="938174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VCM 的核心价值：把“视觉压缩”重新定义为“任务条件化的概念建模”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9875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00" b="0">
                <a:solidFill>
                  <a:srgbClr val="5D6770"/>
                </a:solidFill>
                <a:latin typeface="Microsoft YaHei"/>
              </a:rPr>
              <a:t>Luo et al., VCM, arXiv:2504.19627v2 (2025)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3737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5D6770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VCM：基于指令的自适应视觉概念建模</dc:title>
  <dc:subject>Editable research presentation</dc:subject>
  <dc:creator>Generated from Luo et al. (2025)</dc:creator>
  <cp:keywords/>
  <dc:description>Diagrams and charts are native editable PowerPoint objects.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