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01_title.svg" ContentType="image/svg+xml"/>
  <Override PartName="/ppt/media/figure02_problem.svg" ContentType="image/svg+xml"/>
  <Override PartName="/ppt/media/figure03_flow.svg" ContentType="image/svg+xml"/>
  <Override PartName="/ppt/media/figure04_architecture.svg" ContentType="image/svg+xml"/>
  <Override PartName="/ppt/media/figure05_efficiency.svg" ContentType="image/svg+xml"/>
  <Override PartName="/ppt/media/figure06_results.svg" ContentType="image/svg+xml"/>
  <Override PartName="/ppt/media/figure07_takeaway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01_title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figure02_problem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ure03_flow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figure04_architecture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figure05_efficiency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figure06_results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figure07_takeaway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figure01_tit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95750" y="3562350"/>
            <a:ext cx="4000500" cy="19050"/>
          </a:xfrm>
          <a:prstGeom prst="rect">
            <a:avLst/>
          </a:prstGeom>
          <a:solidFill>
            <a:srgbClr val="5A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38700" y="4972050"/>
            <a:ext cx="2514600" cy="400050"/>
          </a:xfrm>
          <a:prstGeom prst="roundRect">
            <a:avLst>
              <a:gd name="adj" fmla="val 50000"/>
            </a:avLst>
          </a:prstGeom>
          <a:noFill/>
          <a:ln w="17145">
            <a:solidFill>
              <a:srgbClr val="7FA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866900"/>
            <a:ext cx="12192000" cy="762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4650" b="1">
                <a:solidFill>
                  <a:srgbClr val="FFFFFF"/>
                </a:solidFill>
                <a:latin typeface="Calibri"/>
              </a:rPr>
              <a:t>NExT-OMNI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24150"/>
            <a:ext cx="1219200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2325" b="1">
                <a:solidFill>
                  <a:srgbClr val="BBD3EA"/>
                </a:solidFill>
                <a:latin typeface="Calibri"/>
              </a:rPr>
              <a:t>Any-to-Any Omnimodal Foundation Models with Discrete Flow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10000"/>
            <a:ext cx="1219200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Run Luo · Xiaobo Xia · Lu Wang · Longze Chen · Renke Shan · Jing Luo · Min Yang · Tat-Seng Chua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191000"/>
            <a:ext cx="12192000" cy="285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00" b="0">
                <a:solidFill>
                  <a:srgbClr val="A9C6E2"/>
                </a:solidFill>
                <a:latin typeface="Calibri"/>
              </a:rPr>
              <a:t>SIAT, Chinese Academy of Sciences · UCAS · NExT++ Research Center · 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700" y="4972050"/>
            <a:ext cx="251460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75" b="1">
                <a:solidFill>
                  <a:srgbClr val="FFFFFF"/>
                </a:solidFill>
                <a:latin typeface="Calibri"/>
              </a:rPr>
              <a:t>arXiv:2510.13721v2 [cs.CL]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2_problem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The conflict — one model, three jobs, four modalities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Autoregression is sequential; hybrid systems unify tasks by </a:t>
            </a:r>
            <a:r>
              <a:rPr sz="2100" b="1">
                <a:solidFill>
                  <a:srgbClr val="C00000"/>
                </a:solidFill>
                <a:latin typeface="Calibri"/>
              </a:rPr>
              <a:t>splitting the model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Introduction and Figure 1 of the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3_flow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The alternative — discrete flow learns to correct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Corrupt globally, predict globally, refine iteratively — with </a:t>
            </a:r>
            <a:r>
              <a:rPr sz="2100" b="1">
                <a:solidFill>
                  <a:srgbClr val="C00000"/>
                </a:solidFill>
                <a:latin typeface="Calibri"/>
              </a:rPr>
              <a:t>bidirectional context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2.3–2.4 and Appendix A of the paper.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4_architectur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NExT-OMNI — a single deeply fused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One backbone serves understanding, generation, and retrieval — </a:t>
            </a:r>
            <a:r>
              <a:rPr sz="2100" b="1">
                <a:solidFill>
                  <a:srgbClr val="C00000"/>
                </a:solidFill>
                <a:latin typeface="Calibri"/>
              </a:rPr>
              <a:t>no task router required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2.1–2.3 and Figure 2 of the paper.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5_efficiency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Training and inference — make iterative decoding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Interleave modalities, grow responses by blocks, and cache features that barely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 2.4 and Figure 3 of the paper.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6_results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Evidence — the unified flow transfers across task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NExT-OMNI leads on understanding, multi-turn vision, and cross-modal retrieval.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Main-paper Tables 1, 2, and 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7_takeaway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What the ablation says — unification needs the full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DFM opens the door; dynamic length and reconstruction make the unified model </a:t>
            </a:r>
            <a:r>
              <a:rPr sz="2100" b="1">
                <a:solidFill>
                  <a:srgbClr val="C00000"/>
                </a:solidFill>
                <a:latin typeface="Calibri"/>
              </a:rPr>
              <a:t>work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37" b="1">
                <a:solidFill>
                  <a:srgbClr val="3C4A57"/>
                </a:solidFill>
                <a:latin typeface="Calibri"/>
              </a:rPr>
              <a:t>Run Luo, Xiaobo Xia, Lu Wang, Longze Chen, Renke Shan, Jing Luo, Min Yang, and Tat-Seng Chua. NExT-OMNI: Towards Any-to-Any Omnimodal Foundation Models with Discrete Flow Matching. arXiv:2510.13721v2,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