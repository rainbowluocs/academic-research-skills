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figure01_title.svg" ContentType="image/svg+xml"/>
  <Override PartName="/ppt/media/figure02_motivation.svg" ContentType="image/svg+xml"/>
  <Override PartName="/ppt/media/figure03_gap.svg" ContentType="image/svg+xml"/>
  <Override PartName="/ppt/media/figure04_cost.svg" ContentType="image/svg+xml"/>
  <Override PartName="/ppt/media/figure05_prior.svg" ContentType="image/svg+xml"/>
  <Override PartName="/ppt/media/figure06_missing.svg" ContentType="image/svg+xml"/>
  <Override PartName="/ppt/media/figure07_define.svg" ContentType="image/svg+xml"/>
  <Override PartName="/ppt/media/figure08_challenges.svg" ContentType="image/svg+xml"/>
  <Override PartName="/ppt/media/figure09_observation.svg" ContentType="image/svg+xml"/>
  <Override PartName="/ppt/media/figure10_overview.svg" ContentType="image/svg+xml"/>
  <Override PartName="/ppt/media/figure11_keyword.svg" ContentType="image/svg+xml"/>
  <Override PartName="/ppt/media/figure12_masking.svg" ContentType="image/svg+xml"/>
  <Override PartName="/ppt/media/figure13_length.svg" ContentType="image/svg+xml"/>
  <Override PartName="/ppt/media/figure14_dp.svg" ContentType="image/svg+xml"/>
  <Override PartName="/ppt/media/figure15_grad.svg" ContentType="image/svg+xml"/>
  <Override PartName="/ppt/media/figure16_merge.svg" ContentType="image/svg+xml"/>
  <Override PartName="/ppt/media/figure17_vqa.svg" ContentType="image/svg+xml"/>
  <Override PartName="/ppt/media/figure18_efficiency.svg" ContentType="image/svg+xml"/>
  <Override PartName="/ppt/media/figure19_dense.svg" ContentType="image/svg+xml"/>
  <Override PartName="/ppt/media/figure20_general.svg" ContentType="image/svg+xml"/>
  <Override PartName="/ppt/media/figure21_ablation.svg" ContentType="image/svg+xml"/>
  <Override PartName="/ppt/media/figure22_conclusion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figure01_title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figure02_motivation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figure03_gap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figure04_cost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figure05_prior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figure06_missing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figure07_define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figure08_challenges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figure09_observation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figure10_overview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figure11_keyword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figure12_masking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figure13_length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figure14_dp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figure15_grad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figure16_merge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figure17_vqa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figure18_efficiency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figure19_dense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figure20_general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figure21_ablation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figure22_conclusion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figure01_title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095750" y="3562350"/>
            <a:ext cx="4000500" cy="19050"/>
          </a:xfrm>
          <a:prstGeom prst="rect">
            <a:avLst/>
          </a:prstGeom>
          <a:solidFill>
            <a:srgbClr val="5A8C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838700" y="4972050"/>
            <a:ext cx="2514600" cy="400050"/>
          </a:xfrm>
          <a:prstGeom prst="roundRect">
            <a:avLst>
              <a:gd name="adj" fmla="val 50000"/>
            </a:avLst>
          </a:prstGeom>
          <a:noFill/>
          <a:ln w="17145">
            <a:solidFill>
              <a:srgbClr val="7FA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0" y="1866900"/>
            <a:ext cx="12192000" cy="7620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4650" b="1">
                <a:solidFill>
                  <a:srgbClr val="FFFFFF"/>
                </a:solidFill>
                <a:latin typeface="Calibri"/>
              </a:rPr>
              <a:t>VCM: Vision Concept 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724150"/>
            <a:ext cx="12192000" cy="4572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2325" b="1">
                <a:solidFill>
                  <a:srgbClr val="BBD3EA"/>
                </a:solidFill>
                <a:latin typeface="Calibri"/>
              </a:rPr>
              <a:t>Adaptive Vision Token Compression via Instruction Fine-Tuning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810000"/>
            <a:ext cx="12192000" cy="3238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Run Luo · Renke Shan · Longze Chen · Ziqiang Liu · Lu Wang · Min Yang · Xiaobo Xia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191000"/>
            <a:ext cx="12192000" cy="2857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1200" b="0">
                <a:solidFill>
                  <a:srgbClr val="A9C6E2"/>
                </a:solidFill>
                <a:latin typeface="Calibri"/>
              </a:rPr>
              <a:t>SIAT, Chinese Academy of Sciences · UCAS · National University of Singapore · USTC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38700" y="4972050"/>
            <a:ext cx="2514600" cy="4000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1275" b="1">
                <a:solidFill>
                  <a:srgbClr val="FFFFFF"/>
                </a:solidFill>
                <a:latin typeface="Calibri"/>
              </a:rPr>
              <a:t>arXiv:2504.19627v2 [cs.CL]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02_motivation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905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LVLMs are the interface to the real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Powerful, general, deployed — and still reading every image </a:t>
            </a:r>
            <a:r>
              <a:rPr sz="2100" b="1">
                <a:solidFill>
                  <a:srgbClr val="C00000"/>
                </a:solidFill>
                <a:latin typeface="Calibri"/>
              </a:rPr>
              <a:t>token by token</a:t>
            </a:r>
            <a:r>
              <a:rPr sz="2100" b="1">
                <a:solidFill>
                  <a:srgbClr val="004282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Liu et al. Visual Instruction Tuning. NeurIPS 2024. · Bai et al. Qwen-VL. arXiv:2308.12966, 2023.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03_gap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905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Humans answer with concepts, LVLMs pay for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The question needs </a:t>
            </a:r>
            <a:r>
              <a:rPr sz="2100" b="1">
                <a:solidFill>
                  <a:srgbClr val="C00000"/>
                </a:solidFill>
                <a:latin typeface="Calibri"/>
              </a:rPr>
              <a:t>a few concepts</a:t>
            </a:r>
            <a:r>
              <a:rPr sz="2100" b="1">
                <a:solidFill>
                  <a:srgbClr val="004282"/>
                </a:solidFill>
                <a:latin typeface="Calibri"/>
              </a:rPr>
              <a:t>; the model still pays for </a:t>
            </a:r>
            <a:r>
              <a:rPr sz="2100" b="1">
                <a:solidFill>
                  <a:srgbClr val="C00000"/>
                </a:solidFill>
                <a:latin typeface="Calibri"/>
              </a:rPr>
              <a:t>all 576 tokens</a:t>
            </a:r>
            <a:r>
              <a:rPr sz="2100" b="1">
                <a:solidFill>
                  <a:srgbClr val="004282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Figure 1 of the paper.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04_cost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3909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Why that redundancy is expensive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953000"/>
            <a:ext cx="10972800" cy="3048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1275" b="1">
                <a:solidFill>
                  <a:srgbClr val="101010"/>
                </a:solidFill>
                <a:latin typeface="Calibri"/>
              </a:rPr>
              <a:t>Vision tokens dominate the sequence, and attention is quadratic in its length.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Higher resolution and longer video make the </a:t>
            </a:r>
            <a:r>
              <a:rPr sz="2100" b="1">
                <a:solidFill>
                  <a:srgbClr val="C00000"/>
                </a:solidFill>
                <a:latin typeface="Calibri"/>
              </a:rPr>
              <a:t>dominant</a:t>
            </a:r>
            <a:r>
              <a:rPr sz="2100" b="1">
                <a:solidFill>
                  <a:srgbClr val="004282"/>
                </a:solidFill>
                <a:latin typeface="Calibri"/>
              </a:rPr>
              <a:t> term grow </a:t>
            </a:r>
            <a:r>
              <a:rPr sz="2100" b="1">
                <a:solidFill>
                  <a:srgbClr val="C00000"/>
                </a:solidFill>
                <a:latin typeface="Calibri"/>
              </a:rPr>
              <a:t>fastest</a:t>
            </a:r>
            <a:r>
              <a:rPr sz="2100" b="1">
                <a:solidFill>
                  <a:srgbClr val="004282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Appendix D of the paper. FLOPs = T·(4nd² + 2n²d + 2ndm).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05_prior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905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The existing recipe: prune, or merge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Both make the sequence </a:t>
            </a:r>
            <a:r>
              <a:rPr sz="2100" b="1">
                <a:solidFill>
                  <a:srgbClr val="C00000"/>
                </a:solidFill>
                <a:latin typeface="Calibri"/>
              </a:rPr>
              <a:t>shorter</a:t>
            </a:r>
            <a:r>
              <a:rPr sz="2100" b="1">
                <a:solidFill>
                  <a:srgbClr val="004282"/>
                </a:solidFill>
                <a:latin typeface="Calibri"/>
              </a:rPr>
              <a:t>; neither makes it </a:t>
            </a:r>
            <a:r>
              <a:rPr sz="2100" b="1">
                <a:solidFill>
                  <a:srgbClr val="C00000"/>
                </a:solidFill>
                <a:latin typeface="Calibri"/>
              </a:rPr>
              <a:t>conceptual</a:t>
            </a:r>
            <a:r>
              <a:rPr sz="2100" b="1">
                <a:solidFill>
                  <a:srgbClr val="004282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FastV (ECCV 2025) · SparseVLM · PyramidDrop · VisionZip · MQT-LLaVA · ToMe.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06_missing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905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What is still missing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Shorter is not the same as conceptual — so </a:t>
            </a:r>
            <a:r>
              <a:rPr sz="2100" b="1">
                <a:solidFill>
                  <a:srgbClr val="C00000"/>
                </a:solidFill>
                <a:latin typeface="Calibri"/>
              </a:rPr>
              <a:t>none of them is a vision concept model</a:t>
            </a:r>
            <a:r>
              <a:rPr sz="2100" b="1">
                <a:solidFill>
                  <a:srgbClr val="004282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Section 1 and Section 5.1 of the paper.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07_define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905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Definition: the vision 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A model that decides </a:t>
            </a:r>
            <a:r>
              <a:rPr sz="2100" b="1">
                <a:solidFill>
                  <a:srgbClr val="C00000"/>
                </a:solidFill>
                <a:latin typeface="Calibri"/>
              </a:rPr>
              <a:t>how many</a:t>
            </a:r>
            <a:r>
              <a:rPr sz="2100" b="1">
                <a:solidFill>
                  <a:srgbClr val="004282"/>
                </a:solidFill>
                <a:latin typeface="Calibri"/>
              </a:rPr>
              <a:t> concepts, </a:t>
            </a:r>
            <a:r>
              <a:rPr sz="2100" b="1">
                <a:solidFill>
                  <a:srgbClr val="C00000"/>
                </a:solidFill>
                <a:latin typeface="Calibri"/>
              </a:rPr>
              <a:t>which</a:t>
            </a:r>
            <a:r>
              <a:rPr sz="2100" b="1">
                <a:solidFill>
                  <a:srgbClr val="004282"/>
                </a:solidFill>
                <a:latin typeface="Calibri"/>
              </a:rPr>
              <a:t> ones, and </a:t>
            </a:r>
            <a:r>
              <a:rPr sz="2100" b="1">
                <a:solidFill>
                  <a:srgbClr val="C00000"/>
                </a:solidFill>
                <a:latin typeface="Calibri"/>
              </a:rPr>
              <a:t>where</a:t>
            </a:r>
            <a:r>
              <a:rPr sz="2100" b="1">
                <a:solidFill>
                  <a:srgbClr val="004282"/>
                </a:solidFill>
                <a:latin typeface="Calibri"/>
              </a:rPr>
              <a:t> — from the instruction.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Contribution (1) of the paper.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08_challenges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905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Two challenges stand in the 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We need supervision </a:t>
            </a:r>
            <a:r>
              <a:rPr sz="2100" b="1">
                <a:solidFill>
                  <a:srgbClr val="C00000"/>
                </a:solidFill>
                <a:latin typeface="Calibri"/>
              </a:rPr>
              <a:t>without labels</a:t>
            </a:r>
            <a:r>
              <a:rPr sz="2100" b="1">
                <a:solidFill>
                  <a:srgbClr val="004282"/>
                </a:solidFill>
                <a:latin typeface="Calibri"/>
              </a:rPr>
              <a:t>, and optimization </a:t>
            </a:r>
            <a:r>
              <a:rPr sz="2100" b="1">
                <a:solidFill>
                  <a:srgbClr val="C00000"/>
                </a:solidFill>
                <a:latin typeface="Calibri"/>
              </a:rPr>
              <a:t>without a fixed length</a:t>
            </a:r>
            <a:r>
              <a:rPr sz="2100" b="1">
                <a:solidFill>
                  <a:srgbClr val="004282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Section 2, Goal and challenges.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09_observation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3909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The text prior already knows the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953000"/>
            <a:ext cx="10972800" cy="3048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1275" b="1">
                <a:solidFill>
                  <a:srgbClr val="101010"/>
                </a:solidFill>
                <a:latin typeface="Calibri"/>
              </a:rPr>
              <a:t>Probe: 5K LLaVA instances · GPT-4o extracts image-related keywords · VisionZip at 24 lengths · GPT-4o judges the minimum sufficient length.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The instruction–response </a:t>
            </a:r>
            <a:r>
              <a:rPr sz="2100" b="1">
                <a:solidFill>
                  <a:srgbClr val="C00000"/>
                </a:solidFill>
                <a:latin typeface="Calibri"/>
              </a:rPr>
              <a:t>keyword gap</a:t>
            </a:r>
            <a:r>
              <a:rPr sz="2100" b="1">
                <a:solidFill>
                  <a:srgbClr val="004282"/>
                </a:solidFill>
                <a:latin typeface="Calibri"/>
              </a:rPr>
              <a:t> is a supervision signal that costs nothing.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Section 3.1 and Figure 2 of the paper.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10_overview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905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VCM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Select keywords, estimate a length, then </a:t>
            </a:r>
            <a:r>
              <a:rPr sz="2100" b="1">
                <a:solidFill>
                  <a:srgbClr val="C00000"/>
                </a:solidFill>
                <a:latin typeface="Calibri"/>
              </a:rPr>
              <a:t>align by dynamic programming</a:t>
            </a:r>
            <a:r>
              <a:rPr sz="2100" b="1">
                <a:solidFill>
                  <a:srgbClr val="004282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Figure 3(a) of the paper.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11_keyword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905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Step 1 — keywords from semantic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Keywords fall out of </a:t>
            </a:r>
            <a:r>
              <a:rPr sz="2100" b="1">
                <a:solidFill>
                  <a:srgbClr val="C00000"/>
                </a:solidFill>
                <a:latin typeface="Calibri"/>
              </a:rPr>
              <a:t>vision–language alignment</a:t>
            </a:r>
            <a:r>
              <a:rPr sz="2100" b="1">
                <a:solidFill>
                  <a:srgbClr val="004282"/>
                </a:solidFill>
                <a:latin typeface="Calibri"/>
              </a:rPr>
              <a:t>, not out of human annotation.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Section 3.2 and Figure 3(b) of the paper.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12_masking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905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Step 2 — implicit contrastive sampling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Masking keywords </a:t>
            </a:r>
            <a:r>
              <a:rPr sz="2100" b="1">
                <a:solidFill>
                  <a:srgbClr val="C00000"/>
                </a:solidFill>
                <a:latin typeface="Calibri"/>
              </a:rPr>
              <a:t>lengthens</a:t>
            </a:r>
            <a:r>
              <a:rPr sz="2100" b="1">
                <a:solidFill>
                  <a:srgbClr val="004282"/>
                </a:solidFill>
                <a:latin typeface="Calibri"/>
              </a:rPr>
              <a:t> what is needed — a free contrast, and a </a:t>
            </a:r>
            <a:r>
              <a:rPr sz="2100" b="1">
                <a:solidFill>
                  <a:srgbClr val="C00000"/>
                </a:solidFill>
                <a:latin typeface="Calibri"/>
              </a:rPr>
              <a:t>knob</a:t>
            </a:r>
            <a:r>
              <a:rPr sz="2100" b="1">
                <a:solidFill>
                  <a:srgbClr val="004282"/>
                </a:solidFill>
                <a:latin typeface="Calibri"/>
              </a:rPr>
              <a:t> at inference.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Section 3.3 and Figure 4 (top) of the paper.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13_length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905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Step 3 — turn the prior into a target length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The text prior becomes an explicit </a:t>
            </a:r>
            <a:r>
              <a:rPr sz="2100" b="1">
                <a:solidFill>
                  <a:srgbClr val="C00000"/>
                </a:solidFill>
                <a:latin typeface="Calibri"/>
              </a:rPr>
              <a:t>target length</a:t>
            </a:r>
            <a:r>
              <a:rPr sz="2100" b="1">
                <a:solidFill>
                  <a:srgbClr val="004282"/>
                </a:solidFill>
                <a:latin typeface="Calibri"/>
              </a:rPr>
              <a:t> — still no concept labels.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Section 3.3 of the paper.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14_dp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3909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Step 4 — forward–backward over all alignments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953000"/>
            <a:ext cx="10972800" cy="3048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1275" b="1">
                <a:solidFill>
                  <a:srgbClr val="101010"/>
                </a:solidFill>
                <a:latin typeface="Calibri"/>
              </a:rPr>
              <a:t>Every monotone path through the lattice is one way to cut the sequence into L concepts; the forward and backward recursions score all of them at once.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Where to cut is unknown, so we sum over </a:t>
            </a:r>
            <a:r>
              <a:rPr sz="2100" b="1">
                <a:solidFill>
                  <a:srgbClr val="C00000"/>
                </a:solidFill>
                <a:latin typeface="Calibri"/>
              </a:rPr>
              <a:t>every</a:t>
            </a:r>
            <a:r>
              <a:rPr sz="2100" b="1">
                <a:solidFill>
                  <a:srgbClr val="004282"/>
                </a:solidFill>
                <a:latin typeface="Calibri"/>
              </a:rPr>
              <a:t> alignment: 2ᴹ → </a:t>
            </a:r>
            <a:r>
              <a:rPr sz="2100" b="1">
                <a:solidFill>
                  <a:srgbClr val="C00000"/>
                </a:solidFill>
                <a:latin typeface="Calibri"/>
              </a:rPr>
              <a:t>M²</a:t>
            </a:r>
            <a:r>
              <a:rPr sz="2100" b="1">
                <a:solidFill>
                  <a:srgbClr val="004282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Section 3.3 of the paper. Dynamic programming: Bellman, Science 1966.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15_grad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3909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The gradient is a posterior residual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953000"/>
            <a:ext cx="10972800" cy="3048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1275" b="1">
                <a:solidFill>
                  <a:srgbClr val="101010"/>
                </a:solidFill>
                <a:latin typeface="Calibri"/>
              </a:rPr>
              <a:t>Worked example from Table 6: M = 8 input tokens, target length L = 2. Row sums of γ stay constant across 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One clean rule — </a:t>
            </a:r>
            <a:r>
              <a:rPr sz="2100" b="1">
                <a:solidFill>
                  <a:srgbClr val="C00000"/>
                </a:solidFill>
                <a:latin typeface="Calibri"/>
              </a:rPr>
              <a:t>prediction minus posterior</a:t>
            </a:r>
            <a:r>
              <a:rPr sz="2100" b="1">
                <a:solidFill>
                  <a:srgbClr val="004282"/>
                </a:solidFill>
                <a:latin typeface="Calibri"/>
              </a:rPr>
              <a:t>, exactly CTC's gradient shape.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Section 3.4, Appendix C, and Table 6 of the paper.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16_merge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905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Step 5 — merge the kept runs into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912" b="1">
                <a:solidFill>
                  <a:srgbClr val="004282"/>
                </a:solidFill>
                <a:latin typeface="Calibri"/>
              </a:rPr>
              <a:t>Adjacent kept tokens merge by </a:t>
            </a:r>
            <a:r>
              <a:rPr sz="1912" b="1">
                <a:solidFill>
                  <a:srgbClr val="C00000"/>
                </a:solidFill>
                <a:latin typeface="Calibri"/>
              </a:rPr>
              <a:t>score-weighted average</a:t>
            </a:r>
            <a:r>
              <a:rPr sz="1912" b="1">
                <a:solidFill>
                  <a:srgbClr val="004282"/>
                </a:solidFill>
                <a:latin typeface="Calibri"/>
              </a:rPr>
              <a:t> — and the op is </a:t>
            </a:r>
            <a:r>
              <a:rPr sz="1912" b="1">
                <a:solidFill>
                  <a:srgbClr val="C00000"/>
                </a:solidFill>
                <a:latin typeface="Calibri"/>
              </a:rPr>
              <a:t>100× faster</a:t>
            </a:r>
            <a:r>
              <a:rPr sz="1912" b="1">
                <a:solidFill>
                  <a:srgbClr val="004282"/>
                </a:solidFill>
                <a:latin typeface="Calibri"/>
              </a:rPr>
              <a:t> than a double loop.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Section 3.4 and Algorithm 2 of the paper.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17_vqa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3909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Evidence — better than the model it compresses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953000"/>
            <a:ext cx="10972800" cy="3048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1275" b="1">
                <a:solidFill>
                  <a:srgbClr val="101010"/>
                </a:solidFill>
                <a:latin typeface="Calibri"/>
              </a:rPr>
              <a:t>Average over 11 image-based VQA benchmarks (Table 1).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C00000"/>
                </a:solidFill>
                <a:latin typeface="Calibri"/>
              </a:rPr>
              <a:t>144</a:t>
            </a:r>
            <a:r>
              <a:rPr sz="2100" b="1">
                <a:solidFill>
                  <a:srgbClr val="004282"/>
                </a:solidFill>
                <a:latin typeface="Calibri"/>
              </a:rPr>
              <a:t> tokens instead of 576, and a </a:t>
            </a:r>
            <a:r>
              <a:rPr sz="2100" b="1">
                <a:solidFill>
                  <a:srgbClr val="C00000"/>
                </a:solidFill>
                <a:latin typeface="Calibri"/>
              </a:rPr>
              <a:t>higher</a:t>
            </a:r>
            <a:r>
              <a:rPr sz="2100" b="1">
                <a:solidFill>
                  <a:srgbClr val="004282"/>
                </a:solidFill>
                <a:latin typeface="Calibri"/>
              </a:rPr>
              <a:t> average than LLaVA-1.5 itself.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Table 1 of the paper. #Vision Tokens = tokens fed to the LLM backbone.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18_efficiency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3909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Evidence — the cost actually drops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953000"/>
            <a:ext cx="10972800" cy="3048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1275" b="1">
                <a:solidFill>
                  <a:srgbClr val="101010"/>
                </a:solidFill>
                <a:latin typeface="Calibri"/>
              </a:rPr>
              <a:t>Average over the 8 benchmarks reported in Table 10; FLOPs and latency measured in the same setting.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C00000"/>
                </a:solidFill>
                <a:latin typeface="Calibri"/>
              </a:rPr>
              <a:t>85%</a:t>
            </a:r>
            <a:r>
              <a:rPr sz="2100" b="1">
                <a:solidFill>
                  <a:srgbClr val="004282"/>
                </a:solidFill>
                <a:latin typeface="Calibri"/>
              </a:rPr>
              <a:t> fewer FLOPs in theory, </a:t>
            </a:r>
            <a:r>
              <a:rPr sz="2100" b="1">
                <a:solidFill>
                  <a:srgbClr val="C00000"/>
                </a:solidFill>
                <a:latin typeface="Calibri"/>
              </a:rPr>
              <a:t>1.8×</a:t>
            </a:r>
            <a:r>
              <a:rPr sz="2100" b="1">
                <a:solidFill>
                  <a:srgbClr val="004282"/>
                </a:solidFill>
                <a:latin typeface="Calibri"/>
              </a:rPr>
              <a:t> lower latency in practice, </a:t>
            </a:r>
            <a:r>
              <a:rPr sz="2100" b="1">
                <a:solidFill>
                  <a:srgbClr val="C00000"/>
                </a:solidFill>
                <a:latin typeface="Calibri"/>
              </a:rPr>
              <a:t>no</a:t>
            </a:r>
            <a:r>
              <a:rPr sz="2100" b="1">
                <a:solidFill>
                  <a:srgbClr val="004282"/>
                </a:solidFill>
                <a:latin typeface="Calibri"/>
              </a:rPr>
              <a:t> average loss.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Table 10 and Appendix D of the paper. Analytic ratio R ≈ 3/25 at S = 1/4.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19_dense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3909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Evidence — the vision encoder itself improves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953000"/>
            <a:ext cx="10972800" cy="3048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1275" b="1">
                <a:solidFill>
                  <a:srgbClr val="101010"/>
                </a:solidFill>
                <a:latin typeface="Calibri"/>
              </a:rPr>
              <a:t>CLIP ViT-L/14 with and without VCM fine-tuning, dropped into F-VLM (detection) and Cat-Seg (segmentation).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Not only compression — concept modeling </a:t>
            </a:r>
            <a:r>
              <a:rPr sz="2100" b="1">
                <a:solidFill>
                  <a:srgbClr val="C00000"/>
                </a:solidFill>
                <a:latin typeface="Calibri"/>
              </a:rPr>
              <a:t>improves dense perception</a:t>
            </a:r>
            <a:r>
              <a:rPr sz="2100" b="1">
                <a:solidFill>
                  <a:srgbClr val="004282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Tables 2 and 3 of the paper.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20_general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3909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Evidence — the recipe transfers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953000"/>
            <a:ext cx="10972800" cy="3048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1275" b="1">
                <a:solidFill>
                  <a:srgbClr val="101010"/>
                </a:solidFill>
                <a:latin typeface="Calibri"/>
              </a:rPr>
              <a:t>High resolution (Table 7) · video (Table 8) · other architectures and larger LLMs (Table 9).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Resolution, modality, architecture, scale — </a:t>
            </a:r>
            <a:r>
              <a:rPr sz="2100" b="1">
                <a:solidFill>
                  <a:srgbClr val="C00000"/>
                </a:solidFill>
                <a:latin typeface="Calibri"/>
              </a:rPr>
              <a:t>the same recipe holds</a:t>
            </a:r>
            <a:r>
              <a:rPr sz="2100" b="1">
                <a:solidFill>
                  <a:srgbClr val="004282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Tables 7, 8, and 9 of the paper.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21_ablation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3909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Ablation — what each piece buys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953000"/>
            <a:ext cx="10972800" cy="3048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1275" b="1">
                <a:solidFill>
                  <a:srgbClr val="101010"/>
                </a:solidFill>
                <a:latin typeface="Calibri"/>
              </a:rPr>
              <a:t>Average over 4 image-based VQA benchmarks, batch size 128, 500 training steps (Table 4).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Every component contributes, and </a:t>
            </a:r>
            <a:r>
              <a:rPr sz="2100" b="1">
                <a:solidFill>
                  <a:srgbClr val="C00000"/>
                </a:solidFill>
                <a:latin typeface="Calibri"/>
              </a:rPr>
              <a:t>S = 1/4</a:t>
            </a:r>
            <a:r>
              <a:rPr sz="2100" b="1">
                <a:solidFill>
                  <a:srgbClr val="004282"/>
                </a:solidFill>
                <a:latin typeface="Calibri"/>
              </a:rPr>
              <a:t> is the accuracy–cost sweet spot.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Table 4 of the paper.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22_conclusion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905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Model the concepts the instruction </a:t>
            </a:r>
            <a:r>
              <a:rPr sz="2100" b="1">
                <a:solidFill>
                  <a:srgbClr val="C00000"/>
                </a:solidFill>
                <a:latin typeface="Calibri"/>
              </a:rPr>
              <a:t>needs</a:t>
            </a:r>
            <a:r>
              <a:rPr sz="2100" b="1">
                <a:solidFill>
                  <a:srgbClr val="004282"/>
                </a:solidFill>
                <a:latin typeface="Calibri"/>
              </a:rPr>
              <a:t> — not every token the image </a:t>
            </a:r>
            <a:r>
              <a:rPr sz="2100" b="1">
                <a:solidFill>
                  <a:srgbClr val="C00000"/>
                </a:solidFill>
                <a:latin typeface="Calibri"/>
              </a:rPr>
              <a:t>has</a:t>
            </a:r>
            <a:r>
              <a:rPr sz="2100" b="1">
                <a:solidFill>
                  <a:srgbClr val="004282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Run Luo, Renke Shan, Longze Chen, Ziqiang Liu, Lu Wang, Min Yang, Xiaobo Xia. VCM: Vision Concept Modeling with Adaptive Vision Token Compression via Instruction Fine-Tuning. arXiv:2504.19627v2,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