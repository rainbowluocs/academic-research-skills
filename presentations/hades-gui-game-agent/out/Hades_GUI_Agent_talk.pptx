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figure01_title.svg" ContentType="image/svg+xml"/>
  <Override PartName="/ppt/media/figure02_problem.svg" ContentType="image/svg+xml"/>
  <Override PartName="/ppt/media/figure03_pretraining.svg" ContentType="image/svg+xml"/>
  <Override PartName="/ppt/media/figure04_thinking.svg" ContentType="image/svg+xml"/>
  <Override PartName="/ppt/media/figure05_rl.svg" ContentType="image/svg+xml"/>
  <Override PartName="/ppt/media/figure06_inference.svg" ContentType="image/svg+xml"/>
  <Override PartName="/ppt/media/figure07_flywheel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figure01_title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figure02_problem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figure03_pretraining.sv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figure04_thinking.sv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figure05_rl.sv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figure06_inference.sv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image" Target="../media/figure07_flywheel.sv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042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pic>
        <p:nvPicPr>
          <p:cNvPr id="3" name="figure01_titl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4095750" y="3562350"/>
            <a:ext cx="4000500" cy="19050"/>
          </a:xfrm>
          <a:prstGeom prst="rect">
            <a:avLst/>
          </a:prstGeom>
          <a:solidFill>
            <a:srgbClr val="5A8CB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ounded Rectangle 4"/>
          <p:cNvSpPr/>
          <p:nvPr/>
        </p:nvSpPr>
        <p:spPr>
          <a:xfrm>
            <a:off x="4838700" y="4972050"/>
            <a:ext cx="2514600" cy="400050"/>
          </a:xfrm>
          <a:prstGeom prst="roundRect">
            <a:avLst>
              <a:gd name="adj" fmla="val 50000"/>
            </a:avLst>
          </a:prstGeom>
          <a:noFill/>
          <a:ln w="17145">
            <a:solidFill>
              <a:srgbClr val="7FA8D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0" y="1866900"/>
            <a:ext cx="12192000" cy="7620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4650" b="1">
                <a:solidFill>
                  <a:srgbClr val="FFFFFF"/>
                </a:solidFill>
                <a:latin typeface="Calibri"/>
              </a:rPr>
              <a:t>Hades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2724150"/>
            <a:ext cx="12192000" cy="45720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2325" b="1">
                <a:solidFill>
                  <a:srgbClr val="BBD3EA"/>
                </a:solidFill>
                <a:latin typeface="Calibri"/>
              </a:rPr>
              <a:t>A Generalist Vision-Language-Action Model for Long-Horizon Real-Time GUI Game Agents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0" y="3810000"/>
            <a:ext cx="12192000" cy="3238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500" b="0">
                <a:solidFill>
                  <a:srgbClr val="FFFFFF"/>
                </a:solidFill>
                <a:latin typeface="Calibri"/>
              </a:rPr>
              <a:t>miHoYo Lumi · full author list in the paper's Contributions section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0" y="4191000"/>
            <a:ext cx="12192000" cy="2857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200" b="0">
                <a:solidFill>
                  <a:srgbClr val="A9C6E2"/>
                </a:solidFill>
                <a:latin typeface="Calibri"/>
              </a:rPr>
              <a:t>Industrial-scale generalist agent research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38700" y="4972050"/>
            <a:ext cx="2514600" cy="4000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1275" b="1">
                <a:solidFill>
                  <a:srgbClr val="FFFFFF"/>
                </a:solidFill>
                <a:latin typeface="Calibri"/>
              </a:rPr>
              <a:t>Manuscript dated 26 August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2_problem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Commercial games expose the full agent problem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Pixels in, keyboard and mouse out — with </a:t>
            </a:r>
            <a:r>
              <a:rPr sz="2100" b="1">
                <a:solidFill>
                  <a:srgbClr val="C00000"/>
                </a:solidFill>
                <a:latin typeface="Calibri"/>
              </a:rPr>
              <a:t>hours of state</a:t>
            </a:r>
            <a:r>
              <a:rPr sz="2100" b="1">
                <a:solidFill>
                  <a:srgbClr val="004282"/>
                </a:solidFill>
                <a:latin typeface="Calibri"/>
              </a:rPr>
              <a:t> in between.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Introduction of the paper.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3_pretraining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Stage 1 — learn a universal device-level action language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Compress 30 Hz control into tokens, then debias what the model learns from repetition.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2.1–2.5 and Figure 1.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4_thinking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Stage 2 — think sparsely and remember across context windows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Routine control stays fast; decisions and memory appear only at </a:t>
            </a:r>
            <a:r>
              <a:rPr sz="2100" b="1">
                <a:solidFill>
                  <a:srgbClr val="C00000"/>
                </a:solidFill>
                <a:latin typeface="Calibri"/>
              </a:rPr>
              <a:t>critical moments</a:t>
            </a:r>
            <a:r>
              <a:rPr sz="2100" b="1">
                <a:solidFill>
                  <a:srgbClr val="004282"/>
                </a:solidFill>
                <a:latin typeface="Calibri"/>
              </a:rPr>
              <a:t>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3.1–3.6 and Figure 1.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5_r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Stage 3 — TA-GRPO turns an hour-long rollout into learnable segments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Compact memory across segments and assign credit near the state changes that matter.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4.1–4.5 and Figure 2.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6_inference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Deployment — stream actions while the model is still decoding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Streaming-vLLM overlaps generation with execution and reuses the moving context.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Sections 5.1–5.7 and Figure 3.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figure07_flywheel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09600" y="1390650"/>
            <a:ext cx="10972800" cy="39052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solidFill>
            <a:srgbClr val="FFFFFF"/>
          </a:solidFill>
          <a:ln w="20955">
            <a:solidFill>
              <a:srgbClr val="00428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TextBox 3"/>
          <p:cNvSpPr txBox="1"/>
          <p:nvPr/>
        </p:nvSpPr>
        <p:spPr>
          <a:xfrm>
            <a:off x="609600" y="590550"/>
            <a:ext cx="10972800" cy="5905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l">
              <a:lnSpc>
                <a:spcPct val="126000"/>
              </a:lnSpc>
            </a:pPr>
            <a:r>
              <a:rPr sz="3000" b="1">
                <a:solidFill>
                  <a:srgbClr val="101010"/>
                </a:solidFill>
                <a:latin typeface="Calibri"/>
              </a:rPr>
              <a:t>System view — data, policy, verifier, and infrastructure form one loop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2925" y="5391150"/>
            <a:ext cx="11106150" cy="7429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0000"/>
              </a:lnSpc>
            </a:pPr>
            <a:r>
              <a:rPr sz="2100" b="1">
                <a:solidFill>
                  <a:srgbClr val="004282"/>
                </a:solidFill>
                <a:latin typeface="Calibri"/>
              </a:rPr>
              <a:t>The contribution is an industrial agent stack, not only a policy model.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09600" y="6496050"/>
            <a:ext cx="10972800" cy="247650"/>
          </a:xfrm>
          <a:prstGeom prst="rect">
            <a:avLst/>
          </a:prstGeom>
          <a:noFill/>
        </p:spPr>
        <p:txBody>
          <a:bodyPr wrap="none" anchor="ctr" lIns="0" rIns="0" tIns="0" bIns="0">
            <a:noAutofit/>
          </a:bodyPr>
          <a:lstStyle/>
          <a:p>
            <a:pPr algn="ctr">
              <a:lnSpc>
                <a:spcPct val="126000"/>
              </a:lnSpc>
            </a:pPr>
            <a:r>
              <a:rPr sz="975" b="1">
                <a:solidFill>
                  <a:srgbClr val="3C4A57"/>
                </a:solidFill>
                <a:latin typeface="Calibri"/>
              </a:rPr>
              <a:t>miHoYo Lumi. Hades: A Generalist Vision-Language Action Foundation Model for Long-Horizon Real-Time GUI Game Agent. Manuscript, 2026.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