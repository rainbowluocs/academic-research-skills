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FLOPs (T)</c:v>
                </c:pt>
              </c:strCache>
            </c:strRef>
          </c:tx>
          <c:spPr>
            <a:solidFill>
              <a:srgbClr val="2770B1"/>
            </a:solidFill>
            <a:ln>
              <a:solidFill>
                <a:srgbClr val="2770B1"/>
              </a:solidFill>
            </a:ln>
          </c:spPr>
          <c:cat>
            <c:strRef>
              <c:f>Sheet1!$A$2:$A$4</c:f>
              <c:strCache>
                <c:ptCount val="3"/>
                <c:pt idx="0">
                  <c:v>LLaVA
576</c:v>
                </c:pt>
                <c:pt idx="1">
                  <c:v>VCM
128</c:v>
                </c:pt>
                <c:pt idx="2">
                  <c:v>VCM
64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4.62</c:v>
                </c:pt>
                <c:pt idx="1">
                  <c:v>1.71</c:v>
                </c:pt>
                <c:pt idx="2">
                  <c:v>1.24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Gridlines>
          <c:spPr>
            <a:ln>
              <a:solidFill>
                <a:srgbClr val="E0E5EA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900"/>
                </a:pPr>
                <a:r>
                  <a:t>FLOPs (T)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VQA Avg. (%)</c:v>
                </c:pt>
              </c:strCache>
            </c:strRef>
          </c:tx>
          <c:spPr>
            <a:solidFill>
              <a:srgbClr val="EE7733"/>
            </a:solidFill>
            <a:ln>
              <a:solidFill>
                <a:srgbClr val="EE7733"/>
              </a:solidFill>
            </a:ln>
          </c:spPr>
          <c:dPt>
            <c:idx val="5"/>
            <c:spPr>
              <a:solidFill>
                <a:srgbClr val="CE2636"/>
              </a:solidFill>
              <a:ln>
                <a:solidFill>
                  <a:srgbClr val="CE2636"/>
                </a:solidFill>
              </a:ln>
            </c:spPr>
          </c:dPt>
          <c:cat>
            <c:strRef>
              <c:f>Sheet1!$A$2:$A$7</c:f>
              <c:strCache>
                <c:ptCount val="6"/>
                <c:pt idx="0">
                  <c:v>FastV
192</c:v>
                </c:pt>
                <c:pt idx="1">
                  <c:v>PDrop
192</c:v>
                </c:pt>
                <c:pt idx="2">
                  <c:v>Sparse
192</c:v>
                </c:pt>
                <c:pt idx="3">
                  <c:v>VisionZip
192</c:v>
                </c:pt>
                <c:pt idx="4">
                  <c:v>LLaVA
576</c:v>
                </c:pt>
                <c:pt idx="5">
                  <c:v>VCM
144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53.1</c:v>
                </c:pt>
                <c:pt idx="1">
                  <c:v>57.8</c:v>
                </c:pt>
                <c:pt idx="2">
                  <c:v>57.9</c:v>
                </c:pt>
                <c:pt idx="3">
                  <c:v>59.1</c:v>
                </c:pt>
                <c:pt idx="4">
                  <c:v>59.5</c:v>
                </c:pt>
                <c:pt idx="5">
                  <c:v>60.8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2.0"/>
          <c:min val="50.0"/>
        </c:scaling>
        <c:delete val="0"/>
        <c:axPos val="l"/>
        <c:majorGridlines>
          <c:spPr>
            <a:ln>
              <a:solidFill>
                <a:srgbClr val="E0E5EA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5D677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46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932688"/>
            <a:ext cx="192024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Microsoft YaHei"/>
              </a:rPr>
              <a:t>VCM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27632"/>
            <a:ext cx="7909560" cy="12344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</a:rPr>
              <a:t>Vision Concept Modeling with Adaptive Vision Token
Compression via Instruction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163824"/>
            <a:ext cx="781812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3CB4C4"/>
                </a:solidFill>
                <a:latin typeface="Microsoft YaHei"/>
              </a:rPr>
              <a:t>让 LVLM 根据任务指令，动态决定“看多少、看哪里”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8961120" y="114300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44584" y="114300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528048" y="114300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11512" y="114300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94976" y="114300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378440" y="114300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61904" y="114300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45368" y="114300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0" y="1426464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244584" y="1426464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28048" y="1426464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11512" y="1426464"/>
            <a:ext cx="228600" cy="22860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94976" y="1426464"/>
            <a:ext cx="228600" cy="22860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378440" y="1426464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661904" y="1426464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45368" y="1426464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1120" y="1709928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44584" y="1709928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28048" y="1709928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11512" y="1709928"/>
            <a:ext cx="228600" cy="22860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94976" y="1709928"/>
            <a:ext cx="228600" cy="22860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378440" y="1709928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61904" y="1709928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45368" y="1709928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1120" y="1993391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44584" y="1993391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28048" y="1993391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11512" y="1993391"/>
            <a:ext cx="228600" cy="228600"/>
          </a:xfrm>
          <a:prstGeom prst="rect">
            <a:avLst/>
          </a:prstGeom>
          <a:solidFill>
            <a:srgbClr val="2770B1"/>
          </a:solidFill>
          <a:ln w="508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94976" y="1993391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378440" y="1993391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1904" y="1993391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45368" y="1993391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61120" y="2276856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44584" y="2276856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28048" y="2276856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11512" y="2276856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094976" y="2276856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78440" y="2276856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61904" y="2276856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945368" y="2276856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61120" y="256032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44584" y="256032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528048" y="256032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811512" y="256032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094976" y="256032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78440" y="256032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61904" y="256032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45368" y="2560320"/>
            <a:ext cx="228600" cy="228600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9921240" y="3063240"/>
            <a:ext cx="0" cy="640080"/>
          </a:xfrm>
          <a:prstGeom prst="line">
            <a:avLst/>
          </a:prstGeom>
          <a:ln w="29209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8796528" y="3840480"/>
            <a:ext cx="731520" cy="731520"/>
          </a:xfrm>
          <a:prstGeom prst="ellipse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33104" y="4041648"/>
            <a:ext cx="658368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概念 1</a:t>
            </a:r>
          </a:p>
        </p:txBody>
      </p:sp>
      <p:sp>
        <p:nvSpPr>
          <p:cNvPr id="56" name="Oval 55"/>
          <p:cNvSpPr/>
          <p:nvPr/>
        </p:nvSpPr>
        <p:spPr>
          <a:xfrm>
            <a:off x="9802367" y="3840480"/>
            <a:ext cx="731520" cy="731520"/>
          </a:xfrm>
          <a:prstGeom prst="ellipse">
            <a:avLst/>
          </a:prstGeom>
          <a:solidFill>
            <a:srgbClr val="00998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38944" y="4041648"/>
            <a:ext cx="658368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概念 2</a:t>
            </a:r>
          </a:p>
        </p:txBody>
      </p:sp>
      <p:sp>
        <p:nvSpPr>
          <p:cNvPr id="58" name="Oval 57"/>
          <p:cNvSpPr/>
          <p:nvPr/>
        </p:nvSpPr>
        <p:spPr>
          <a:xfrm>
            <a:off x="10808208" y="3840480"/>
            <a:ext cx="731520" cy="731520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844784" y="4041648"/>
            <a:ext cx="658368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概念 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9808" y="4828032"/>
            <a:ext cx="7726679" cy="658368"/>
          </a:xfrm>
          <a:prstGeom prst="rect">
            <a:avLst/>
          </a:prstGeom>
          <a:solidFill>
            <a:srgbClr val="07467C"/>
          </a:solidFill>
          <a:ln w="17780">
            <a:solidFill>
              <a:srgbClr val="3CB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0976" y="4956048"/>
            <a:ext cx="733348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核心贡献：把视觉压缩从固定 token reduction，升级为 instruction-conditioned concept modeling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6053328"/>
            <a:ext cx="502920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Luo et al. · arXiv:2504.19627v2 · 2025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0232" y="5989320"/>
            <a:ext cx="50292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问题：LVLM 处理所有视觉 token，但任务通常只需要少量概念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49808" y="1188720"/>
            <a:ext cx="182880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5D6770"/>
                </a:solidFill>
                <a:latin typeface="Microsoft YaHei"/>
              </a:rPr>
              <a:t>当前范式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68249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7008" y="168249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53896" y="168249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784" y="168249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47672" y="168249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94560" y="168249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41448" y="168249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88336" y="168249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35224" y="168249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82112" y="168249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0120" y="192938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07008" y="192938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53896" y="192938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00784" y="192938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47672" y="192938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94560" y="192938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41448" y="192938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88336" y="192938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35224" y="192938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182112" y="192938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217627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07008" y="217627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3896" y="217627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00784" y="217627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47672" y="217627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94560" y="217627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41448" y="217627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88336" y="217627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35224" y="217627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82112" y="2176272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0120" y="242316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207008" y="242316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53896" y="242316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00784" y="242316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47672" y="242316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94560" y="242316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441448" y="242316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88336" y="242316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35224" y="242316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82112" y="2423160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" y="267004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7008" y="267004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453896" y="267004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00784" y="267004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947672" y="267004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94560" y="267004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441448" y="267004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8336" y="267004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35224" y="267004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82112" y="2670048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" y="291693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07008" y="291693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453896" y="291693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700784" y="291693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947672" y="291693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94560" y="291693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41448" y="291693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688336" y="291693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935224" y="291693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182112" y="2916936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60120" y="316382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207008" y="316382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453896" y="316382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00784" y="316382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47672" y="316382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94560" y="316382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441448" y="316382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688336" y="316382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935224" y="316382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82112" y="3163824"/>
            <a:ext cx="201168" cy="201168"/>
          </a:xfrm>
          <a:prstGeom prst="rect">
            <a:avLst/>
          </a:prstGeom>
          <a:solidFill>
            <a:srgbClr val="DAE1E8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80160" y="3712463"/>
            <a:ext cx="205740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CE2636"/>
                </a:solidFill>
                <a:latin typeface="Microsoft YaHei"/>
              </a:rPr>
              <a:t>576+ tokens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703320" y="2615184"/>
            <a:ext cx="896112" cy="0"/>
          </a:xfrm>
          <a:prstGeom prst="line">
            <a:avLst/>
          </a:prstGeom>
          <a:ln w="30480">
            <a:solidFill>
              <a:srgbClr val="CE263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4681728" y="1682496"/>
            <a:ext cx="2011680" cy="192024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02352" y="2002536"/>
            <a:ext cx="11887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700" b="1">
                <a:solidFill>
                  <a:srgbClr val="07467C"/>
                </a:solidFill>
                <a:latin typeface="Microsoft YaHei"/>
              </a:rPr>
              <a:t>LLM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120640" y="2542032"/>
            <a:ext cx="1143000" cy="7772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CE2636"/>
                </a:solidFill>
                <a:latin typeface="Microsoft YaHei"/>
              </a:rPr>
              <a:t>FLOPs ↑
Latency ↑
Memory ↑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821424" y="2615184"/>
            <a:ext cx="859536" cy="0"/>
          </a:xfrm>
          <a:prstGeom prst="line">
            <a:avLst/>
          </a:prstGeom>
          <a:ln w="3048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995160" y="2157984"/>
            <a:ext cx="5943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1">
                <a:solidFill>
                  <a:srgbClr val="009988"/>
                </a:solidFill>
                <a:latin typeface="Microsoft YaHei"/>
              </a:rPr>
              <a:t>VCM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790688" y="1335024"/>
            <a:ext cx="3429000" cy="2670048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101583" y="1600200"/>
            <a:ext cx="27889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100" b="1">
                <a:solidFill>
                  <a:srgbClr val="009988"/>
                </a:solidFill>
                <a:latin typeface="Microsoft YaHei"/>
              </a:rPr>
              <a:t>Vision Concept Model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94192" y="2176272"/>
            <a:ext cx="2212848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0">
                <a:solidFill>
                  <a:srgbClr val="5D6770"/>
                </a:solidFill>
                <a:latin typeface="Microsoft YaHei"/>
              </a:rPr>
              <a:t>由 instruction 动态决定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02752" y="2596896"/>
            <a:ext cx="2395728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0">
                <a:solidFill>
                  <a:srgbClr val="1E2328"/>
                </a:solidFill>
                <a:latin typeface="Microsoft YaHei"/>
              </a:rPr>
              <a:t>数量 </a:t>
            </a:r>
            <a:r>
              <a:rPr sz="1800" b="1">
                <a:solidFill>
                  <a:srgbClr val="CE2636"/>
                </a:solidFill>
                <a:latin typeface="Microsoft YaHei"/>
              </a:rPr>
              <a:t>K</a:t>
            </a:r>
            <a:r>
              <a:rPr sz="1800" b="0">
                <a:solidFill>
                  <a:srgbClr val="1E2328"/>
                </a:solidFill>
                <a:latin typeface="Microsoft YaHei"/>
              </a:rPr>
              <a:t>  +  空间位置</a:t>
            </a:r>
          </a:p>
        </p:txBody>
      </p:sp>
      <p:sp>
        <p:nvSpPr>
          <p:cNvPr id="86" name="Oval 85"/>
          <p:cNvSpPr/>
          <p:nvPr/>
        </p:nvSpPr>
        <p:spPr>
          <a:xfrm>
            <a:off x="8394192" y="3218688"/>
            <a:ext cx="502920" cy="502920"/>
          </a:xfrm>
          <a:prstGeom prst="ellipse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217152" y="3218688"/>
            <a:ext cx="502920" cy="502920"/>
          </a:xfrm>
          <a:prstGeom prst="ellipse">
            <a:avLst/>
          </a:prstGeom>
          <a:solidFill>
            <a:srgbClr val="00998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040112" y="3218688"/>
            <a:ext cx="502920" cy="502920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关键区别：VCM 不只是删 token，而是保留具有语义和空间对应关系的 concepts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Luo et al., VCM, arXiv:2504.19627v2 (2025)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出发点：文本先验可以估计每个样本需要多少视觉信息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658368" y="1188720"/>
            <a:ext cx="3401568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426464"/>
            <a:ext cx="292608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2770B1"/>
                </a:solidFill>
                <a:latin typeface="Microsoft YaHei"/>
              </a:rPr>
              <a:t>Response keywords ↑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52728" y="3182112"/>
            <a:ext cx="2240280" cy="0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252728" y="1938528"/>
            <a:ext cx="0" cy="1243584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554480" y="2103120"/>
            <a:ext cx="1682496" cy="822960"/>
          </a:xfrm>
          <a:prstGeom prst="line">
            <a:avLst/>
          </a:prstGeom>
          <a:ln w="35560">
            <a:solidFill>
              <a:srgbClr val="2770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33856" y="3346704"/>
            <a:ext cx="24688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2770B1"/>
                </a:solidFill>
                <a:latin typeface="Microsoft YaHei"/>
              </a:rPr>
              <a:t>所需 vision length 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188720"/>
            <a:ext cx="3401568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1426464"/>
            <a:ext cx="292608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EE7733"/>
                </a:solidFill>
                <a:latin typeface="Microsoft YaHei"/>
              </a:rPr>
              <a:t>Instruction keywords 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74920" y="3182112"/>
            <a:ext cx="2240280" cy="0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074920" y="1938528"/>
            <a:ext cx="0" cy="1243584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376671" y="2103120"/>
            <a:ext cx="1682496" cy="841248"/>
          </a:xfrm>
          <a:prstGeom prst="line">
            <a:avLst/>
          </a:prstGeom>
          <a:ln w="35560">
            <a:solidFill>
              <a:srgbClr val="EE77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956048" y="3346704"/>
            <a:ext cx="24688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0">
                <a:solidFill>
                  <a:srgbClr val="EE7733"/>
                </a:solidFill>
                <a:latin typeface="Microsoft YaHei"/>
              </a:rPr>
              <a:t>所需 vision length 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2752" y="1188720"/>
            <a:ext cx="3401568" cy="2651760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1426464"/>
            <a:ext cx="2926080" cy="3200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07467C"/>
                </a:solidFill>
                <a:latin typeface="Microsoft YaHei"/>
              </a:rPr>
              <a:t>Δ keywords 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97112" y="3182112"/>
            <a:ext cx="2240280" cy="0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897112" y="1938528"/>
            <a:ext cx="0" cy="1243584"/>
          </a:xfrm>
          <a:prstGeom prst="line">
            <a:avLst/>
          </a:prstGeom>
          <a:ln w="20320">
            <a:solidFill>
              <a:srgbClr val="5D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198864" y="2103120"/>
            <a:ext cx="1682496" cy="841248"/>
          </a:xfrm>
          <a:prstGeom prst="line">
            <a:avLst/>
          </a:prstGeom>
          <a:ln w="35560">
            <a:solidFill>
              <a:srgbClr val="0746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778240" y="3346704"/>
            <a:ext cx="24688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07467C"/>
                </a:solidFill>
                <a:latin typeface="Microsoft YaHei"/>
              </a:rPr>
              <a:t>更稳定的负相关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8992" y="4279392"/>
            <a:ext cx="507492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584" y="4443984"/>
            <a:ext cx="91440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2770B1"/>
                </a:solidFill>
                <a:latin typeface="Microsoft YaHei"/>
              </a:rPr>
              <a:t>挑战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1991" y="4370832"/>
            <a:ext cx="164592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1E2328"/>
                </a:solidFill>
                <a:latin typeface="Microsoft YaHei"/>
              </a:rPr>
              <a:t>无 concept-level 标注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95344" y="4754880"/>
            <a:ext cx="365760" cy="0"/>
          </a:xfrm>
          <a:prstGeom prst="line">
            <a:avLst/>
          </a:prstGeom>
          <a:ln w="2032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25112" y="4352544"/>
            <a:ext cx="160020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1">
                <a:solidFill>
                  <a:srgbClr val="2770B1"/>
                </a:solidFill>
                <a:latin typeface="Microsoft YaHei"/>
              </a:rPr>
              <a:t>Semantic alignment
+ keyword selection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48272" y="4279392"/>
            <a:ext cx="507492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12864" y="4443984"/>
            <a:ext cx="91440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EE7733"/>
                </a:solidFill>
                <a:latin typeface="Microsoft YaHei"/>
              </a:rPr>
              <a:t>挑战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91271" y="4370832"/>
            <a:ext cx="164592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1E2328"/>
                </a:solidFill>
                <a:latin typeface="Microsoft YaHei"/>
              </a:rPr>
              <a:t>concept length 动态变化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64624" y="4754880"/>
            <a:ext cx="365760" cy="0"/>
          </a:xfrm>
          <a:prstGeom prst="line">
            <a:avLst/>
          </a:prstGeom>
          <a:ln w="20320">
            <a:solidFill>
              <a:srgbClr val="EE773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994392" y="4352544"/>
            <a:ext cx="160020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200" b="1">
                <a:solidFill>
                  <a:srgbClr val="EE7733"/>
                </a:solidFill>
                <a:latin typeface="Microsoft YaHei"/>
              </a:rPr>
              <a:t>Forward–backward
optimization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方法逻辑：文本先验提供“目标长度”，动态规划学习“具体位置”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Fig. 2 and Sections 3.1–3.3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方法：四步完成 instruction-conditioned vision concept modeling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66928" y="1280160"/>
            <a:ext cx="2450592" cy="3611880"/>
          </a:xfrm>
          <a:prstGeom prst="roundRect">
            <a:avLst/>
          </a:prstGeom>
          <a:solidFill>
            <a:srgbClr val="F4F9FD"/>
          </a:solidFill>
          <a:ln w="1905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08176" y="1572768"/>
            <a:ext cx="731520" cy="731520"/>
          </a:xfrm>
          <a:prstGeom prst="ellipse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72768" y="1746504"/>
            <a:ext cx="402336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50592"/>
            <a:ext cx="1938528" cy="7498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2770B1"/>
                </a:solidFill>
                <a:latin typeface="Microsoft YaHei"/>
              </a:rPr>
              <a:t>Semantic
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19856"/>
            <a:ext cx="1938528" cy="7772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0">
                <a:solidFill>
                  <a:srgbClr val="1E2328"/>
                </a:solidFill>
                <a:latin typeface="Microsoft YaHei"/>
              </a:rPr>
              <a:t>让 selector 学会
图文语义相关性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35808" y="3063240"/>
            <a:ext cx="384048" cy="0"/>
          </a:xfrm>
          <a:prstGeom prst="line">
            <a:avLst/>
          </a:prstGeom>
          <a:ln w="22860">
            <a:solidFill>
              <a:srgbClr val="5D67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74720" y="1280160"/>
            <a:ext cx="2450592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15968" y="1572768"/>
            <a:ext cx="731520" cy="731520"/>
          </a:xfrm>
          <a:prstGeom prst="ellipse">
            <a:avLst/>
          </a:prstGeom>
          <a:solidFill>
            <a:srgbClr val="EE773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746504"/>
            <a:ext cx="402336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450592"/>
            <a:ext cx="1938528" cy="7498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EE7733"/>
                </a:solidFill>
                <a:latin typeface="Microsoft YaHei"/>
              </a:rPr>
              <a:t>Keyword
Selection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3419856"/>
            <a:ext cx="1938528" cy="7772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0">
                <a:solidFill>
                  <a:srgbClr val="1E2328"/>
                </a:solidFill>
                <a:latin typeface="Microsoft YaHei"/>
              </a:rPr>
              <a:t>K &gt; E(K)
选 image-related 词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43600" y="3063240"/>
            <a:ext cx="384048" cy="0"/>
          </a:xfrm>
          <a:prstGeom prst="line">
            <a:avLst/>
          </a:prstGeom>
          <a:ln w="22860">
            <a:solidFill>
              <a:srgbClr val="5D67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82512" y="1280160"/>
            <a:ext cx="2450592" cy="3611880"/>
          </a:xfrm>
          <a:prstGeom prst="roundRect">
            <a:avLst/>
          </a:prstGeom>
          <a:solidFill>
            <a:srgbClr val="F4F9FD"/>
          </a:solidFill>
          <a:ln w="1905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23760" y="1572768"/>
            <a:ext cx="731520" cy="731520"/>
          </a:xfrm>
          <a:prstGeom prst="ellipse">
            <a:avLst/>
          </a:prstGeom>
          <a:solidFill>
            <a:srgbClr val="00998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88352" y="1746504"/>
            <a:ext cx="402336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450592"/>
            <a:ext cx="1938528" cy="7498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009988"/>
                </a:solidFill>
                <a:latin typeface="Microsoft YaHei"/>
              </a:rPr>
              <a:t>Dynamic
Length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3419856"/>
            <a:ext cx="1938528" cy="7772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0">
                <a:solidFill>
                  <a:srgbClr val="1E2328"/>
                </a:solidFill>
                <a:latin typeface="Microsoft YaHei"/>
              </a:rPr>
              <a:t>文本先验映射为
目标长度 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51392" y="3063240"/>
            <a:ext cx="384048" cy="0"/>
          </a:xfrm>
          <a:prstGeom prst="line">
            <a:avLst/>
          </a:prstGeom>
          <a:ln w="22860">
            <a:solidFill>
              <a:srgbClr val="5D67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90304" y="1280160"/>
            <a:ext cx="2450592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31552" y="1572768"/>
            <a:ext cx="731520" cy="731520"/>
          </a:xfrm>
          <a:prstGeom prst="ellipse">
            <a:avLst/>
          </a:prstGeom>
          <a:solidFill>
            <a:srgbClr val="07467C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96144" y="1746504"/>
            <a:ext cx="402336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2450592"/>
            <a:ext cx="1938528" cy="7498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07467C"/>
                </a:solidFill>
                <a:latin typeface="Microsoft YaHei"/>
              </a:rPr>
              <a:t>Forward–
Backward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46336" y="3419856"/>
            <a:ext cx="1938528" cy="7772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0">
                <a:solidFill>
                  <a:srgbClr val="1E2328"/>
                </a:solidFill>
                <a:latin typeface="Microsoft YaHei"/>
              </a:rPr>
              <a:t>学习 token 位置
并合并连续片段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93392" y="5175504"/>
            <a:ext cx="8211312" cy="457200"/>
          </a:xfrm>
          <a:prstGeom prst="rect">
            <a:avLst/>
          </a:prstGeom>
          <a:solidFill>
            <a:srgbClr val="E6F1FA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40280" y="5230368"/>
            <a:ext cx="7717536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07467C"/>
                </a:solidFill>
                <a:latin typeface="Microsoft YaHei"/>
              </a:rPr>
              <a:t>Image + Instruction → adaptive Hᵥᶜ → LLM response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训练不需要昂贵的 concept annotation；推理只把少量任务相关 concepts 送入 LLM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Editable reconstruction of the paper's Figure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核心算法：目标长度估计 + Forward–Backward 路径优化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658368" y="1115568"/>
            <a:ext cx="5303520" cy="1938528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1335024"/>
            <a:ext cx="12801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2770B1"/>
                </a:solidFill>
                <a:latin typeface="Microsoft YaHei"/>
              </a:rPr>
              <a:t>目标长度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1901952"/>
            <a:ext cx="461772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07467C"/>
                </a:solidFill>
                <a:latin typeface="Microsoft YaHei"/>
              </a:rPr>
              <a:t>L = ⌊ M · S · (1 − Norm(Nₖₑᵧ)) 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487168"/>
            <a:ext cx="28346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0">
                <a:solidFill>
                  <a:srgbClr val="5D6770"/>
                </a:solidFill>
                <a:latin typeface="Microsoft YaHei"/>
              </a:rPr>
              <a:t>告诉模型“保留多少”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115568"/>
            <a:ext cx="5303520" cy="1938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335024"/>
            <a:ext cx="16459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009988"/>
                </a:solidFill>
                <a:latin typeface="Microsoft YaHei"/>
              </a:rPr>
              <a:t>扩展目标序列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874519"/>
            <a:ext cx="292608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600" b="1">
                <a:solidFill>
                  <a:srgbClr val="009988"/>
                </a:solidFill>
                <a:latin typeface="Microsoft YaHei"/>
              </a:rPr>
              <a:t>∅  ★  ∅  ★  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3488" y="2487168"/>
            <a:ext cx="318211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300" b="0">
                <a:solidFill>
                  <a:srgbClr val="5D6770"/>
                </a:solidFill>
                <a:latin typeface="Microsoft YaHei"/>
              </a:rPr>
              <a:t>告诉模型“哪些位置可组成 concepts”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22191"/>
            <a:ext cx="123444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2770B1"/>
                </a:solidFill>
                <a:latin typeface="Microsoft YaHei"/>
              </a:rPr>
              <a:t>α(t,l)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31720" y="4041648"/>
            <a:ext cx="1554480" cy="0"/>
          </a:xfrm>
          <a:prstGeom prst="line">
            <a:avLst/>
          </a:prstGeom>
          <a:ln w="27940">
            <a:solidFill>
              <a:srgbClr val="2770B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005072" y="3447288"/>
            <a:ext cx="4160520" cy="1225296"/>
          </a:xfrm>
          <a:prstGeom prst="roundRect">
            <a:avLst/>
          </a:prstGeom>
          <a:solidFill>
            <a:srgbClr val="E6F1FA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3657600"/>
            <a:ext cx="3584448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07467C"/>
                </a:solidFill>
                <a:latin typeface="Microsoft YaHei"/>
              </a:rPr>
              <a:t>p(Zᵥ|Yᵥ) = Σₗ α(t,l) · β(t,l)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4096512"/>
            <a:ext cx="269748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0">
                <a:solidFill>
                  <a:srgbClr val="CE2636"/>
                </a:solidFill>
                <a:latin typeface="Microsoft YaHei"/>
              </a:rPr>
              <a:t>Lᵥ꜀ₘ = −log p(Zᵥ|Yᵥ)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75320" y="4041648"/>
            <a:ext cx="1536192" cy="0"/>
          </a:xfrm>
          <a:prstGeom prst="line">
            <a:avLst/>
          </a:prstGeom>
          <a:ln w="27940">
            <a:solidFill>
              <a:srgbClr val="00998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902952" y="3822191"/>
            <a:ext cx="123444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009988"/>
                </a:solidFill>
                <a:latin typeface="Microsoft YaHei"/>
              </a:rPr>
              <a:t>β(t,l)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56432" y="4965192"/>
            <a:ext cx="5285232" cy="4846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5038344"/>
            <a:ext cx="484632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EE7733"/>
                </a:solidFill>
                <a:latin typeface="Microsoft YaHei"/>
              </a:rPr>
              <a:t>搜索复杂度：O(2ᴹ) → O(M²)，随后 Segment Merging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训练最大化所有合法路径；推理选取最可能路径并合并相邻保留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Sections 3.3–3.4 and Appendix 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结果：更少的计算量，同时保持或提升任务性能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66928" y="1225296"/>
          <a:ext cx="507492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61888" y="1225296"/>
          <a:ext cx="5650992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176272" y="1024128"/>
            <a:ext cx="18288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5D6770"/>
                </a:solidFill>
                <a:latin typeface="Microsoft YaHei"/>
              </a:rPr>
              <a:t>计算效率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024128"/>
            <a:ext cx="256032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5D6770"/>
                </a:solidFill>
                <a:latin typeface="Microsoft YaHei"/>
              </a:rPr>
              <a:t>11-benchmark VQA 平均表现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4956048"/>
            <a:ext cx="3035808" cy="493776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5029200"/>
            <a:ext cx="274320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2770B1"/>
                </a:solidFill>
                <a:latin typeface="Microsoft YaHei"/>
              </a:rPr>
              <a:t>最高约 85% FLOPs reduction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4956048"/>
            <a:ext cx="3035808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0016" y="5029200"/>
            <a:ext cx="274320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009988"/>
                </a:solidFill>
                <a:latin typeface="Microsoft YaHei"/>
              </a:rPr>
              <a:t>dense perception 同步增强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4956048"/>
            <a:ext cx="3035808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E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5029200"/>
            <a:ext cx="2743200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CE2636"/>
                </a:solidFill>
                <a:latin typeface="Microsoft YaHei"/>
              </a:rPr>
              <a:t>144 tokens 获得最高 VQA Avg.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5650992"/>
            <a:ext cx="9902952" cy="502920"/>
          </a:xfrm>
          <a:prstGeom prst="rect">
            <a:avLst/>
          </a:prstGeom>
          <a:solidFill>
            <a:srgbClr val="FFFFFF"/>
          </a:solidFill>
          <a:ln w="13970">
            <a:solidFill>
              <a:srgbClr val="27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5705855"/>
            <a:ext cx="9537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2770B1"/>
                </a:solidFill>
                <a:latin typeface="Microsoft YaHei"/>
              </a:rPr>
              <a:t>VCM 的收益不仅是压缩：它还学习到更具表示力的视觉概念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Table 1, Table 10 and Appendix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1E2328"/>
                </a:solidFill>
                <a:latin typeface="Microsoft YaHei"/>
              </a:rPr>
              <a:t>结论：VCM 将视觉压缩重新定义为任务条件化概念建模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841248"/>
            <a:ext cx="10972800" cy="0"/>
          </a:xfrm>
          <a:prstGeom prst="line">
            <a:avLst/>
          </a:prstGeom>
          <a:ln w="10160">
            <a:solidFill>
              <a:srgbClr val="E0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822960" y="1188720"/>
            <a:ext cx="621792" cy="621792"/>
          </a:xfrm>
          <a:prstGeom prst="ellipse">
            <a:avLst/>
          </a:prstGeom>
          <a:solidFill>
            <a:srgbClr val="CE263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325880"/>
            <a:ext cx="347472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9072" y="1225296"/>
            <a:ext cx="10515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CE2636"/>
                </a:solidFill>
                <a:latin typeface="Microsoft YaHei"/>
              </a:rP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99232" y="1225296"/>
            <a:ext cx="7845552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0">
                <a:solidFill>
                  <a:srgbClr val="1E2328"/>
                </a:solidFill>
                <a:latin typeface="Microsoft YaHei"/>
              </a:rPr>
              <a:t>全部 vision tokens 带来高计算冗余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286000"/>
            <a:ext cx="621792" cy="621792"/>
          </a:xfrm>
          <a:prstGeom prst="ellipse">
            <a:avLst/>
          </a:prstGeom>
          <a:solidFill>
            <a:srgbClr val="2770B1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23160"/>
            <a:ext cx="347472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9072" y="2322576"/>
            <a:ext cx="10515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2770B1"/>
                </a:solidFill>
                <a:latin typeface="Microsoft YaHei"/>
              </a:rPr>
              <a:t>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2322576"/>
            <a:ext cx="7845552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0">
                <a:solidFill>
                  <a:srgbClr val="1E2328"/>
                </a:solidFill>
                <a:latin typeface="Microsoft YaHei"/>
              </a:rPr>
              <a:t>文本先验 + 动态长度 + Forward–Backward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383280"/>
            <a:ext cx="621792" cy="621792"/>
          </a:xfrm>
          <a:prstGeom prst="ellipse">
            <a:avLst/>
          </a:prstGeom>
          <a:solidFill>
            <a:srgbClr val="00998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20440"/>
            <a:ext cx="347472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3419856"/>
            <a:ext cx="10515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009988"/>
                </a:solidFill>
                <a:latin typeface="Microsoft YaHei"/>
              </a:rPr>
              <a:t>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419856"/>
            <a:ext cx="7845552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1E2328"/>
                </a:solidFill>
                <a:latin typeface="Microsoft YaHei"/>
              </a:rPr>
              <a:t>最高约 85% FLOPs reduction，性能保持或提升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608576"/>
            <a:ext cx="10497312" cy="768096"/>
          </a:xfrm>
          <a:prstGeom prst="roundRect">
            <a:avLst/>
          </a:prstGeom>
          <a:solidFill>
            <a:srgbClr val="F4F9FD"/>
          </a:solidFill>
          <a:ln w="15240">
            <a:solidFill>
              <a:srgbClr val="EE7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4782312"/>
            <a:ext cx="100584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EE7733"/>
                </a:solidFill>
                <a:latin typeface="Microsoft YaHei"/>
              </a:rPr>
              <a:t>局限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7712" y="4736592"/>
            <a:ext cx="86868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500" b="0">
                <a:solidFill>
                  <a:srgbClr val="1E2328"/>
                </a:solidFill>
                <a:latin typeface="Microsoft YaHei"/>
              </a:rPr>
              <a:t>关键词可能有偏差；长度估计仍较粗；concept 可解释性需要更直接的定量评估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5669280"/>
            <a:ext cx="9893808" cy="530352"/>
          </a:xfrm>
          <a:prstGeom prst="rect">
            <a:avLst/>
          </a:prstGeom>
          <a:solidFill>
            <a:srgbClr val="07467C"/>
          </a:solidFill>
          <a:ln w="15240">
            <a:solidFill>
              <a:srgbClr val="074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5751576"/>
            <a:ext cx="9400032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Take-home：让模型不再“看完再回答”，而是“按问题选择该看的概念”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700" b="0">
                <a:solidFill>
                  <a:srgbClr val="5D6770"/>
                </a:solidFill>
                <a:latin typeface="Microsoft YaHei"/>
              </a:rPr>
              <a:t>Paper conclusion and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37376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r"/>
            <a:r>
              <a:rPr sz="800" b="0">
                <a:solidFill>
                  <a:srgbClr val="5D677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VCM：7页精简论文汇报</dc:title>
  <dc:subject>Editable concise research presentation</dc:subject>
  <dc:creator>Generated from Luo et al. (2025)</dc:creator>
  <cp:keywords/>
  <dc:description>All diagrams and charts use editable PowerPoint objects.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