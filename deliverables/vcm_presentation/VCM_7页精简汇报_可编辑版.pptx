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series</c:v>
                </c:pt>
              </c:strCache>
            </c:strRef>
          </c:tx>
          <c:spPr>
            <a:solidFill>
              <a:srgbClr val="8FBDE0"/>
            </a:solidFill>
            <a:ln>
              <a:noFill/>
            </a:ln>
          </c:spPr>
          <c:dPt>
            <c:idx val="1"/>
            <c:spPr>
              <a:solidFill>
                <a:srgbClr val="1F6FB2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LLaVA-1.5
576</c:v>
                </c:pt>
                <c:pt idx="1">
                  <c:v>VCM
128</c:v>
                </c:pt>
                <c:pt idx="2">
                  <c:v>VCM
64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4.62</c:v>
                </c:pt>
                <c:pt idx="1">
                  <c:v>1.71</c:v>
                </c:pt>
                <c:pt idx="2">
                  <c:v>1.24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200" b="1">
                  <a:solidFill>
                    <a:srgbClr val="16212B"/>
                  </a:solidFill>
                  <a:latin typeface="Segoe U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8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9525">
            <a:solidFill>
              <a:srgbClr val="DDE4EA"/>
            </a:solidFill>
          </a:ln>
        </c:spPr>
        <c:txPr>
          <a:bodyPr/>
          <a:lstStyle/>
          <a:p>
            <a:pPr>
              <a:defRPr sz="1100">
                <a:solidFill>
                  <a:srgbClr val="6B7885"/>
                </a:solidFill>
                <a:latin typeface="Segoe U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.4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6B7885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series</c:v>
                </c:pt>
              </c:strCache>
            </c:strRef>
          </c:tx>
          <c:spPr>
            <a:solidFill>
              <a:srgbClr val="C7D5E2"/>
            </a:solidFill>
            <a:ln>
              <a:noFill/>
            </a:ln>
          </c:spPr>
          <c:dPt>
            <c:idx val="5"/>
            <c:spPr>
              <a:solidFill>
                <a:srgbClr val="C8443C"/>
              </a:solidFill>
              <a:ln>
                <a:noFill/>
              </a:ln>
            </c:spPr>
          </c:dPt>
          <c:cat>
            <c:strRef>
              <c:f>Sheet1!$A$2:$A$7</c:f>
              <c:strCache>
                <c:ptCount val="6"/>
                <c:pt idx="0">
                  <c:v>FastV</c:v>
                </c:pt>
                <c:pt idx="1">
                  <c:v>PDrop</c:v>
                </c:pt>
                <c:pt idx="2">
                  <c:v>SparseVLM</c:v>
                </c:pt>
                <c:pt idx="3">
                  <c:v>VisionZip</c:v>
                </c:pt>
                <c:pt idx="4">
                  <c:v>LLaVA-1.5</c:v>
                </c:pt>
                <c:pt idx="5">
                  <c:v>VCM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53.1</c:v>
                </c:pt>
                <c:pt idx="1">
                  <c:v>57.8</c:v>
                </c:pt>
                <c:pt idx="2">
                  <c:v>57.9</c:v>
                </c:pt>
                <c:pt idx="3">
                  <c:v>59.1</c:v>
                </c:pt>
                <c:pt idx="4">
                  <c:v>59.5</c:v>
                </c:pt>
                <c:pt idx="5">
                  <c:v>60.8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 b="1">
                  <a:solidFill>
                    <a:srgbClr val="16212B"/>
                  </a:solidFill>
                  <a:latin typeface="Segoe U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8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9525">
            <a:solidFill>
              <a:srgbClr val="DDE4EA"/>
            </a:solidFill>
          </a:ln>
        </c:spPr>
        <c:txPr>
          <a:bodyPr/>
          <a:lstStyle/>
          <a:p>
            <a:pPr>
              <a:defRPr sz="1100">
                <a:solidFill>
                  <a:srgbClr val="6B7885"/>
                </a:solidFill>
                <a:latin typeface="Segoe U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3.0"/>
          <c:min val="5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6B7885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796528" y="2084831"/>
            <a:ext cx="365760" cy="365760"/>
          </a:xfrm>
          <a:prstGeom prst="rect">
            <a:avLst/>
          </a:prstGeom>
          <a:solidFill>
            <a:srgbClr val="1B4E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272015" y="2084831"/>
            <a:ext cx="365760" cy="365760"/>
          </a:xfrm>
          <a:prstGeom prst="rect">
            <a:avLst/>
          </a:prstGeom>
          <a:solidFill>
            <a:srgbClr val="2462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747504" y="2084831"/>
            <a:ext cx="365760" cy="365760"/>
          </a:xfrm>
          <a:prstGeom prst="rect">
            <a:avLst/>
          </a:prstGeom>
          <a:solidFill>
            <a:srgbClr val="1B4E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22992" y="2084831"/>
            <a:ext cx="365760" cy="365760"/>
          </a:xfrm>
          <a:prstGeom prst="rect">
            <a:avLst/>
          </a:prstGeom>
          <a:solidFill>
            <a:srgbClr val="2462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698480" y="2084831"/>
            <a:ext cx="365760" cy="365760"/>
          </a:xfrm>
          <a:prstGeom prst="rect">
            <a:avLst/>
          </a:prstGeom>
          <a:solidFill>
            <a:srgbClr val="1B4E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173967" y="2084831"/>
            <a:ext cx="365760" cy="365760"/>
          </a:xfrm>
          <a:prstGeom prst="rect">
            <a:avLst/>
          </a:prstGeom>
          <a:solidFill>
            <a:srgbClr val="2462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796528" y="2560320"/>
            <a:ext cx="365760" cy="365760"/>
          </a:xfrm>
          <a:prstGeom prst="rect">
            <a:avLst/>
          </a:prstGeom>
          <a:solidFill>
            <a:srgbClr val="2462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272015" y="2560320"/>
            <a:ext cx="365760" cy="365760"/>
          </a:xfrm>
          <a:prstGeom prst="rect">
            <a:avLst/>
          </a:prstGeom>
          <a:solidFill>
            <a:srgbClr val="1B4E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747504" y="2560320"/>
            <a:ext cx="365760" cy="36576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222992" y="2560320"/>
            <a:ext cx="365760" cy="36576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698480" y="2560320"/>
            <a:ext cx="365760" cy="365760"/>
          </a:xfrm>
          <a:prstGeom prst="rect">
            <a:avLst/>
          </a:prstGeom>
          <a:solidFill>
            <a:srgbClr val="2462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173967" y="2560320"/>
            <a:ext cx="365760" cy="365760"/>
          </a:xfrm>
          <a:prstGeom prst="rect">
            <a:avLst/>
          </a:prstGeom>
          <a:solidFill>
            <a:srgbClr val="1B4E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796528" y="3035808"/>
            <a:ext cx="365760" cy="365760"/>
          </a:xfrm>
          <a:prstGeom prst="rect">
            <a:avLst/>
          </a:prstGeom>
          <a:solidFill>
            <a:srgbClr val="1B4E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272015" y="3035808"/>
            <a:ext cx="365760" cy="365760"/>
          </a:xfrm>
          <a:prstGeom prst="rect">
            <a:avLst/>
          </a:prstGeom>
          <a:solidFill>
            <a:srgbClr val="2462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747504" y="3035808"/>
            <a:ext cx="365760" cy="36576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222992" y="3035808"/>
            <a:ext cx="365760" cy="36576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698480" y="3035808"/>
            <a:ext cx="365760" cy="36576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173967" y="3035808"/>
            <a:ext cx="365760" cy="365760"/>
          </a:xfrm>
          <a:prstGeom prst="rect">
            <a:avLst/>
          </a:prstGeom>
          <a:solidFill>
            <a:srgbClr val="2462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96528" y="3511296"/>
            <a:ext cx="365760" cy="365760"/>
          </a:xfrm>
          <a:prstGeom prst="rect">
            <a:avLst/>
          </a:prstGeom>
          <a:solidFill>
            <a:srgbClr val="2462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272015" y="3511296"/>
            <a:ext cx="365760" cy="365760"/>
          </a:xfrm>
          <a:prstGeom prst="rect">
            <a:avLst/>
          </a:prstGeom>
          <a:solidFill>
            <a:srgbClr val="1B4E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747504" y="3511296"/>
            <a:ext cx="365760" cy="365760"/>
          </a:xfrm>
          <a:prstGeom prst="rect">
            <a:avLst/>
          </a:prstGeom>
          <a:solidFill>
            <a:srgbClr val="2462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222992" y="3511296"/>
            <a:ext cx="365760" cy="365760"/>
          </a:xfrm>
          <a:prstGeom prst="rect">
            <a:avLst/>
          </a:prstGeom>
          <a:solidFill>
            <a:srgbClr val="1B4E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698480" y="3511296"/>
            <a:ext cx="365760" cy="36576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173967" y="3511296"/>
            <a:ext cx="365760" cy="365760"/>
          </a:xfrm>
          <a:prstGeom prst="rect">
            <a:avLst/>
          </a:prstGeom>
          <a:solidFill>
            <a:srgbClr val="1B4E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1481328"/>
            <a:ext cx="69494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spc="180">
                <a:solidFill>
                  <a:srgbClr val="8FBDE0"/>
                </a:solidFill>
                <a:latin typeface="Segoe UI"/>
                <a:ea typeface="Microsoft YaHei"/>
                <a:cs typeface="Segoe UI"/>
              </a:rPr>
              <a:t>PAPER PRESENTATION · arXiv:2504.19627v2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1883664"/>
            <a:ext cx="6949440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800" b="1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VCM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2926080"/>
            <a:ext cx="7223760" cy="9692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Vision Concept Modeling with Adaptive</a:t>
            </a:r>
          </a:p>
          <a:p>
            <a:pPr algn="l">
              <a:lnSpc>
                <a:spcPct val="118000"/>
              </a:lnSpc>
            </a:pPr>
            <a:r>
              <a:rPr sz="2400" b="1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Vision Token Compression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77240" y="4133087"/>
            <a:ext cx="1051560" cy="0"/>
          </a:xfrm>
          <a:prstGeom prst="line">
            <a:avLst/>
          </a:prstGeom>
          <a:ln w="38100">
            <a:solidFill>
              <a:srgbClr val="8FBD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77240" y="4352544"/>
            <a:ext cx="72237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0">
                <a:solidFill>
                  <a:srgbClr val="8FBDE0"/>
                </a:solidFill>
                <a:latin typeface="Segoe UI"/>
                <a:ea typeface="Microsoft YaHei"/>
                <a:cs typeface="Segoe UI"/>
              </a:rPr>
              <a:t>让模型按指令决定看多少、看哪里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5870448"/>
            <a:ext cx="72237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7EA6C6"/>
                </a:solidFill>
                <a:latin typeface="Segoe UI"/>
                <a:ea typeface="Microsoft YaHei"/>
                <a:cs typeface="Segoe UI"/>
              </a:rPr>
              <a:t>Luo, Shan, Chen, Liu, Wang, Yang, Xia · SIAT · NUS ·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02336"/>
            <a:ext cx="1063447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spc="160">
                <a:solidFill>
                  <a:srgbClr val="1F6FB2"/>
                </a:solidFill>
                <a:latin typeface="Segoe UI"/>
                <a:ea typeface="Microsoft YaHei"/>
                <a:cs typeface="Segoe UI"/>
              </a:rPr>
              <a:t>问题 ·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94944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16212B"/>
                </a:solidFill>
                <a:latin typeface="Segoe UI"/>
                <a:ea typeface="Microsoft YaHei"/>
                <a:cs typeface="Segoe UI"/>
              </a:rPr>
              <a:t>整幅图都进入 LLM，代价随序列长度增长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77240" y="1335024"/>
            <a:ext cx="1051560" cy="0"/>
          </a:xfrm>
          <a:prstGeom prst="line">
            <a:avLst/>
          </a:prstGeom>
          <a:ln w="3810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777240" y="1664208"/>
            <a:ext cx="4828032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192024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6B7885"/>
                </a:solidFill>
                <a:latin typeface="Segoe UI"/>
                <a:ea typeface="Microsoft YaHei"/>
                <a:cs typeface="Segoe UI"/>
              </a:rPr>
              <a:t>w/o VCM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2249424"/>
            <a:ext cx="274320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600" b="1">
                <a:solidFill>
                  <a:srgbClr val="16212B"/>
                </a:solidFill>
                <a:latin typeface="Segoe UI"/>
                <a:ea typeface="Microsoft YaHei"/>
                <a:cs typeface="Segoe UI"/>
              </a:rPr>
              <a:t>576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97864" y="331012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6B7885"/>
                </a:solidFill>
                <a:latin typeface="Segoe UI"/>
                <a:ea typeface="Microsoft YaHei"/>
                <a:cs typeface="Segoe UI"/>
              </a:rPr>
              <a:t>vision tokens</a:t>
            </a:r>
          </a:p>
        </p:txBody>
      </p:sp>
      <p:sp>
        <p:nvSpPr>
          <p:cNvPr id="9" name="Rectangle 8"/>
          <p:cNvSpPr/>
          <p:nvPr/>
        </p:nvSpPr>
        <p:spPr>
          <a:xfrm>
            <a:off x="3904487" y="2212848"/>
            <a:ext cx="201168" cy="20116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60520" y="2212848"/>
            <a:ext cx="201168" cy="201168"/>
          </a:xfrm>
          <a:prstGeom prst="rect">
            <a:avLst/>
          </a:prstGeom>
          <a:solidFill>
            <a:srgbClr val="8FB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16552" y="2212848"/>
            <a:ext cx="201168" cy="20116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672583" y="2212848"/>
            <a:ext cx="201168" cy="201168"/>
          </a:xfrm>
          <a:prstGeom prst="rect">
            <a:avLst/>
          </a:prstGeom>
          <a:solidFill>
            <a:srgbClr val="8FB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28616" y="2212848"/>
            <a:ext cx="201168" cy="20116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184648" y="2212848"/>
            <a:ext cx="201168" cy="201168"/>
          </a:xfrm>
          <a:prstGeom prst="rect">
            <a:avLst/>
          </a:prstGeom>
          <a:solidFill>
            <a:srgbClr val="8FB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04487" y="2468880"/>
            <a:ext cx="201168" cy="201168"/>
          </a:xfrm>
          <a:prstGeom prst="rect">
            <a:avLst/>
          </a:prstGeom>
          <a:solidFill>
            <a:srgbClr val="8FB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60520" y="2468880"/>
            <a:ext cx="201168" cy="20116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16552" y="2468880"/>
            <a:ext cx="201168" cy="201168"/>
          </a:xfrm>
          <a:prstGeom prst="rect">
            <a:avLst/>
          </a:prstGeom>
          <a:solidFill>
            <a:srgbClr val="8FB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72583" y="2468880"/>
            <a:ext cx="201168" cy="20116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28616" y="2468880"/>
            <a:ext cx="201168" cy="201168"/>
          </a:xfrm>
          <a:prstGeom prst="rect">
            <a:avLst/>
          </a:prstGeom>
          <a:solidFill>
            <a:srgbClr val="8FB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84648" y="2468880"/>
            <a:ext cx="201168" cy="20116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904487" y="2724912"/>
            <a:ext cx="201168" cy="20116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60520" y="2724912"/>
            <a:ext cx="201168" cy="201168"/>
          </a:xfrm>
          <a:prstGeom prst="rect">
            <a:avLst/>
          </a:prstGeom>
          <a:solidFill>
            <a:srgbClr val="8FB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16552" y="2724912"/>
            <a:ext cx="201168" cy="20116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672583" y="2724912"/>
            <a:ext cx="201168" cy="201168"/>
          </a:xfrm>
          <a:prstGeom prst="rect">
            <a:avLst/>
          </a:prstGeom>
          <a:solidFill>
            <a:srgbClr val="8FB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928616" y="2724912"/>
            <a:ext cx="201168" cy="20116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184648" y="2724912"/>
            <a:ext cx="201168" cy="201168"/>
          </a:xfrm>
          <a:prstGeom prst="rect">
            <a:avLst/>
          </a:prstGeom>
          <a:solidFill>
            <a:srgbClr val="8FB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904487" y="2980944"/>
            <a:ext cx="201168" cy="201168"/>
          </a:xfrm>
          <a:prstGeom prst="rect">
            <a:avLst/>
          </a:prstGeom>
          <a:solidFill>
            <a:srgbClr val="8FB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160520" y="2980944"/>
            <a:ext cx="201168" cy="20116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416552" y="2980944"/>
            <a:ext cx="201168" cy="201168"/>
          </a:xfrm>
          <a:prstGeom prst="rect">
            <a:avLst/>
          </a:prstGeom>
          <a:solidFill>
            <a:srgbClr val="8FB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672583" y="2980944"/>
            <a:ext cx="201168" cy="20116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928616" y="2980944"/>
            <a:ext cx="201168" cy="201168"/>
          </a:xfrm>
          <a:prstGeom prst="rect">
            <a:avLst/>
          </a:prstGeom>
          <a:solidFill>
            <a:srgbClr val="8FB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184648" y="2980944"/>
            <a:ext cx="201168" cy="20116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61288" y="3968496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16212B"/>
                </a:solidFill>
                <a:latin typeface="Segoe UI"/>
                <a:ea typeface="Microsoft YaHei"/>
                <a:cs typeface="Segoe UI"/>
              </a:rPr>
              <a:t>每个 patch 都参与注意力计算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833872" y="3172968"/>
            <a:ext cx="585216" cy="0"/>
          </a:xfrm>
          <a:prstGeom prst="line">
            <a:avLst/>
          </a:prstGeom>
          <a:ln w="31750">
            <a:solidFill>
              <a:srgbClr val="C8443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724144" y="2578608"/>
            <a:ext cx="82296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000" b="1">
                <a:solidFill>
                  <a:srgbClr val="C8443C"/>
                </a:solidFill>
                <a:latin typeface="Segoe UI"/>
                <a:ea typeface="Microsoft YaHei"/>
                <a:cs typeface="Segoe UI"/>
              </a:rPr>
              <a:t>instruction</a:t>
            </a:r>
          </a:p>
          <a:p>
            <a:pPr algn="ctr">
              <a:lnSpc>
                <a:spcPct val="112000"/>
              </a:lnSpc>
            </a:pPr>
            <a:r>
              <a:rPr sz="1000" b="1">
                <a:solidFill>
                  <a:srgbClr val="C8443C"/>
                </a:solidFill>
                <a:latin typeface="Segoe UI"/>
                <a:ea typeface="Microsoft YaHei"/>
                <a:cs typeface="Segoe UI"/>
              </a:rPr>
              <a:t>aware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83680" y="1664208"/>
            <a:ext cx="4828032" cy="3017520"/>
          </a:xfrm>
          <a:prstGeom prst="roundRect">
            <a:avLst>
              <a:gd name="adj" fmla="val 4000"/>
            </a:avLst>
          </a:prstGeom>
          <a:solidFill>
            <a:srgbClr val="ED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67728" y="192024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1F6FB2"/>
                </a:solidFill>
                <a:latin typeface="Segoe UI"/>
                <a:ea typeface="Microsoft YaHei"/>
                <a:cs typeface="Segoe UI"/>
              </a:rPr>
              <a:t>w/ VCM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67728" y="2249424"/>
            <a:ext cx="274320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600" b="1">
                <a:solidFill>
                  <a:srgbClr val="123A5F"/>
                </a:solidFill>
                <a:latin typeface="Segoe UI"/>
                <a:ea typeface="Microsoft YaHei"/>
                <a:cs typeface="Segoe UI"/>
              </a:rPr>
              <a:t>16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04304" y="331012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6B7885"/>
                </a:solidFill>
                <a:latin typeface="Segoe UI"/>
                <a:ea typeface="Microsoft YaHei"/>
                <a:cs typeface="Segoe UI"/>
              </a:rPr>
              <a:t>vision tokens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710928" y="2212848"/>
            <a:ext cx="201168" cy="201168"/>
          </a:xfrm>
          <a:prstGeom prst="rect">
            <a:avLst/>
          </a:prstGeom>
          <a:solidFill>
            <a:srgbClr val="D8E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966959" y="2212848"/>
            <a:ext cx="201168" cy="201168"/>
          </a:xfrm>
          <a:prstGeom prst="rect">
            <a:avLst/>
          </a:prstGeom>
          <a:solidFill>
            <a:srgbClr val="D8E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0222992" y="2212848"/>
            <a:ext cx="201168" cy="201168"/>
          </a:xfrm>
          <a:prstGeom prst="rect">
            <a:avLst/>
          </a:prstGeom>
          <a:solidFill>
            <a:srgbClr val="D8E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479024" y="2212848"/>
            <a:ext cx="201168" cy="201168"/>
          </a:xfrm>
          <a:prstGeom prst="rect">
            <a:avLst/>
          </a:prstGeom>
          <a:solidFill>
            <a:srgbClr val="D8E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0735055" y="2212848"/>
            <a:ext cx="201168" cy="201168"/>
          </a:xfrm>
          <a:prstGeom prst="rect">
            <a:avLst/>
          </a:prstGeom>
          <a:solidFill>
            <a:srgbClr val="D8E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991088" y="2212848"/>
            <a:ext cx="201168" cy="201168"/>
          </a:xfrm>
          <a:prstGeom prst="rect">
            <a:avLst/>
          </a:prstGeom>
          <a:solidFill>
            <a:srgbClr val="D8E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710928" y="2468880"/>
            <a:ext cx="201168" cy="201168"/>
          </a:xfrm>
          <a:prstGeom prst="rect">
            <a:avLst/>
          </a:prstGeom>
          <a:solidFill>
            <a:srgbClr val="D8E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966959" y="2468880"/>
            <a:ext cx="201168" cy="201168"/>
          </a:xfrm>
          <a:prstGeom prst="rect">
            <a:avLst/>
          </a:prstGeom>
          <a:solidFill>
            <a:srgbClr val="D8E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0222992" y="2468880"/>
            <a:ext cx="201168" cy="20116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0479024" y="2468880"/>
            <a:ext cx="201168" cy="20116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0735055" y="2468880"/>
            <a:ext cx="201168" cy="201168"/>
          </a:xfrm>
          <a:prstGeom prst="rect">
            <a:avLst/>
          </a:prstGeom>
          <a:solidFill>
            <a:srgbClr val="D8E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0991088" y="2468880"/>
            <a:ext cx="201168" cy="201168"/>
          </a:xfrm>
          <a:prstGeom prst="rect">
            <a:avLst/>
          </a:prstGeom>
          <a:solidFill>
            <a:srgbClr val="D8E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710928" y="2724912"/>
            <a:ext cx="201168" cy="201168"/>
          </a:xfrm>
          <a:prstGeom prst="rect">
            <a:avLst/>
          </a:prstGeom>
          <a:solidFill>
            <a:srgbClr val="D8E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966959" y="2724912"/>
            <a:ext cx="201168" cy="201168"/>
          </a:xfrm>
          <a:prstGeom prst="rect">
            <a:avLst/>
          </a:prstGeom>
          <a:solidFill>
            <a:srgbClr val="D8E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0222992" y="2724912"/>
            <a:ext cx="201168" cy="20116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479024" y="2724912"/>
            <a:ext cx="201168" cy="20116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0735055" y="2724912"/>
            <a:ext cx="201168" cy="201168"/>
          </a:xfrm>
          <a:prstGeom prst="rect">
            <a:avLst/>
          </a:prstGeom>
          <a:solidFill>
            <a:srgbClr val="D8E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0991088" y="2724912"/>
            <a:ext cx="201168" cy="201168"/>
          </a:xfrm>
          <a:prstGeom prst="rect">
            <a:avLst/>
          </a:prstGeom>
          <a:solidFill>
            <a:srgbClr val="D8E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710928" y="2980944"/>
            <a:ext cx="201168" cy="201168"/>
          </a:xfrm>
          <a:prstGeom prst="rect">
            <a:avLst/>
          </a:prstGeom>
          <a:solidFill>
            <a:srgbClr val="D8E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9966959" y="2980944"/>
            <a:ext cx="201168" cy="201168"/>
          </a:xfrm>
          <a:prstGeom prst="rect">
            <a:avLst/>
          </a:prstGeom>
          <a:solidFill>
            <a:srgbClr val="D8E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0222992" y="2980944"/>
            <a:ext cx="201168" cy="201168"/>
          </a:xfrm>
          <a:prstGeom prst="rect">
            <a:avLst/>
          </a:prstGeom>
          <a:solidFill>
            <a:srgbClr val="D8E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0479024" y="2980944"/>
            <a:ext cx="201168" cy="201168"/>
          </a:xfrm>
          <a:prstGeom prst="rect">
            <a:avLst/>
          </a:prstGeom>
          <a:solidFill>
            <a:srgbClr val="D8E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0735055" y="2980944"/>
            <a:ext cx="201168" cy="201168"/>
          </a:xfrm>
          <a:prstGeom prst="rect">
            <a:avLst/>
          </a:prstGeom>
          <a:solidFill>
            <a:srgbClr val="D8E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0991088" y="2980944"/>
            <a:ext cx="201168" cy="201168"/>
          </a:xfrm>
          <a:prstGeom prst="rect">
            <a:avLst/>
          </a:prstGeom>
          <a:solidFill>
            <a:srgbClr val="D8E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967728" y="3968496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16212B"/>
                </a:solidFill>
                <a:latin typeface="Segoe UI"/>
                <a:ea typeface="Microsoft YaHei"/>
                <a:cs typeface="Segoe UI"/>
              </a:rPr>
              <a:t>同样答对 </a:t>
            </a:r>
            <a:r>
              <a:rPr sz="1400" b="1">
                <a:solidFill>
                  <a:srgbClr val="C8443C"/>
                </a:solidFill>
                <a:latin typeface="Segoe UI"/>
                <a:ea typeface="Microsoft YaHei"/>
                <a:cs typeface="Segoe UI"/>
              </a:rPr>
              <a:t>“What color is the dog's collar?”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777240" y="4956048"/>
            <a:ext cx="3200399" cy="0"/>
          </a:xfrm>
          <a:prstGeom prst="line">
            <a:avLst/>
          </a:prstGeom>
          <a:ln w="9525">
            <a:solidFill>
              <a:srgbClr val="DDE4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777240" y="5084064"/>
            <a:ext cx="182880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16212B"/>
                </a:solidFill>
                <a:latin typeface="Segoe UI"/>
                <a:ea typeface="Microsoft YaHei"/>
                <a:cs typeface="Segoe UI"/>
              </a:rPr>
              <a:t>4.62 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624328" y="5138928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>
                <a:solidFill>
                  <a:srgbClr val="6B7885"/>
                </a:solidFill>
                <a:latin typeface="Segoe UI"/>
                <a:ea typeface="Microsoft YaHei"/>
                <a:cs typeface="Segoe UI"/>
              </a:rPr>
              <a:t>FLOPs, 576 tokens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4416552" y="4956048"/>
            <a:ext cx="3200400" cy="0"/>
          </a:xfrm>
          <a:prstGeom prst="line">
            <a:avLst/>
          </a:prstGeom>
          <a:ln w="9525">
            <a:solidFill>
              <a:srgbClr val="DDE4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4416552" y="5084064"/>
            <a:ext cx="182880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16212B"/>
                </a:solidFill>
                <a:latin typeface="Segoe UI"/>
                <a:ea typeface="Microsoft YaHei"/>
                <a:cs typeface="Segoe UI"/>
              </a:rPr>
              <a:t>57.8 ms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263640" y="5138928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>
                <a:solidFill>
                  <a:srgbClr val="6B7885"/>
                </a:solidFill>
                <a:latin typeface="Segoe UI"/>
                <a:ea typeface="Microsoft YaHei"/>
                <a:cs typeface="Segoe UI"/>
              </a:rPr>
              <a:t>latency, 576 tokens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8055864" y="4956048"/>
            <a:ext cx="3200400" cy="0"/>
          </a:xfrm>
          <a:prstGeom prst="line">
            <a:avLst/>
          </a:prstGeom>
          <a:ln w="9525">
            <a:solidFill>
              <a:srgbClr val="DDE4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8055864" y="5084064"/>
            <a:ext cx="182880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16212B"/>
                </a:solidFill>
                <a:latin typeface="Segoe UI"/>
                <a:ea typeface="Microsoft YaHei"/>
                <a:cs typeface="Segoe UI"/>
              </a:rPr>
              <a:t>1/8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902952" y="5138928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>
                <a:solidFill>
                  <a:srgbClr val="6B7885"/>
                </a:solidFill>
                <a:latin typeface="Segoe UI"/>
                <a:ea typeface="Microsoft YaHei"/>
                <a:cs typeface="Segoe UI"/>
              </a:rPr>
              <a:t>序列长度缩放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77240" y="5779008"/>
            <a:ext cx="10634472" cy="512064"/>
          </a:xfrm>
          <a:prstGeom prst="roundRect">
            <a:avLst>
              <a:gd name="adj" fmla="val 10000"/>
            </a:avLst>
          </a:prstGeom>
          <a:solidFill>
            <a:srgbClr val="ED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77240" y="5779008"/>
            <a:ext cx="50292" cy="512064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106424" y="5779008"/>
            <a:ext cx="9976104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50" b="1">
                <a:solidFill>
                  <a:srgbClr val="123A5F"/>
                </a:solidFill>
                <a:latin typeface="Segoe UI"/>
                <a:ea typeface="Microsoft YaHei"/>
                <a:cs typeface="Segoe UI"/>
              </a:rPr>
              <a:t>瓶颈不在模型能力，而在“无差别处理全部视觉 token”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77240" y="6428232"/>
            <a:ext cx="981151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AAB4BE"/>
                </a:solidFill>
                <a:latin typeface="Segoe UI"/>
                <a:ea typeface="Microsoft YaHei"/>
                <a:cs typeface="Segoe UI"/>
              </a:rPr>
              <a:t>Paper Figure 1, Table 10 and Appendix 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771632" y="6409944"/>
            <a:ext cx="6400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1">
                <a:solidFill>
                  <a:srgbClr val="AAB4BE"/>
                </a:solidFill>
                <a:latin typeface="Segoe UI"/>
                <a:ea typeface="Microsoft YaHei"/>
                <a:cs typeface="Segoe U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02336"/>
            <a:ext cx="1063447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spc="160">
                <a:solidFill>
                  <a:srgbClr val="1F6FB2"/>
                </a:solidFill>
                <a:latin typeface="Segoe UI"/>
                <a:ea typeface="Microsoft YaHei"/>
                <a:cs typeface="Segoe UI"/>
              </a:rPr>
              <a:t>洞察 · INSIGHT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94944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16212B"/>
                </a:solidFill>
                <a:latin typeface="Segoe UI"/>
                <a:ea typeface="Microsoft YaHei"/>
                <a:cs typeface="Segoe UI"/>
              </a:rPr>
              <a:t>需要多少视觉信息，文本先验已经透露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77240" y="1335024"/>
            <a:ext cx="1051560" cy="0"/>
          </a:xfrm>
          <a:prstGeom prst="line">
            <a:avLst/>
          </a:prstGeom>
          <a:ln w="3810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664208"/>
            <a:ext cx="384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>
                <a:solidFill>
                  <a:srgbClr val="1F6FB2"/>
                </a:solidFill>
                <a:latin typeface="Segoe UI"/>
                <a:ea typeface="Microsoft YaHei"/>
                <a:cs typeface="Segoe UI"/>
              </a:rPr>
              <a:t>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52728" y="1682496"/>
            <a:ext cx="3520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16212B"/>
                </a:solidFill>
                <a:latin typeface="Segoe UI"/>
                <a:ea typeface="Microsoft YaHei"/>
                <a:cs typeface="Segoe UI"/>
              </a:rPr>
              <a:t>Response keywords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52728" y="1975104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>
                <a:solidFill>
                  <a:srgbClr val="6B7885"/>
                </a:solidFill>
                <a:latin typeface="Segoe UI"/>
                <a:ea typeface="Microsoft YaHei"/>
                <a:cs typeface="Segoe UI"/>
              </a:rPr>
              <a:t>回答涉及的图像关键词越多，所需视觉长度越长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2450592"/>
            <a:ext cx="4069080" cy="0"/>
          </a:xfrm>
          <a:prstGeom prst="line">
            <a:avLst/>
          </a:prstGeom>
          <a:ln w="9525">
            <a:solidFill>
              <a:srgbClr val="DDE4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2624328"/>
            <a:ext cx="384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>
                <a:solidFill>
                  <a:srgbClr val="D98A2B"/>
                </a:solidFill>
                <a:latin typeface="Segoe UI"/>
                <a:ea typeface="Microsoft YaHei"/>
                <a:cs typeface="Segoe UI"/>
              </a:rPr>
              <a:t>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52728" y="2642616"/>
            <a:ext cx="3520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16212B"/>
                </a:solidFill>
                <a:latin typeface="Segoe UI"/>
                <a:ea typeface="Microsoft YaHei"/>
                <a:cs typeface="Segoe UI"/>
              </a:rPr>
              <a:t>Instruction keywords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52728" y="2935224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>
                <a:solidFill>
                  <a:srgbClr val="6B7885"/>
                </a:solidFill>
                <a:latin typeface="Segoe UI"/>
                <a:ea typeface="Microsoft YaHei"/>
                <a:cs typeface="Segoe UI"/>
              </a:rPr>
              <a:t>问题越具体，所需视觉长度越短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77240" y="3410712"/>
            <a:ext cx="4069080" cy="0"/>
          </a:xfrm>
          <a:prstGeom prst="line">
            <a:avLst/>
          </a:prstGeom>
          <a:ln w="9525">
            <a:solidFill>
              <a:srgbClr val="DDE4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77240" y="3584448"/>
            <a:ext cx="384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>
                <a:solidFill>
                  <a:srgbClr val="2E8B84"/>
                </a:solidFill>
                <a:latin typeface="Segoe UI"/>
                <a:ea typeface="Microsoft YaHei"/>
                <a:cs typeface="Segoe UI"/>
              </a:rPr>
              <a:t>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52728" y="3602736"/>
            <a:ext cx="3520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16212B"/>
                </a:solidFill>
                <a:latin typeface="Segoe UI"/>
                <a:ea typeface="Microsoft YaHei"/>
                <a:cs typeface="Segoe UI"/>
              </a:rPr>
              <a:t>Response − Instruction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52728" y="3895344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>
                <a:solidFill>
                  <a:srgbClr val="6B7885"/>
                </a:solidFill>
                <a:latin typeface="Segoe UI"/>
                <a:ea typeface="Microsoft YaHei"/>
                <a:cs typeface="Segoe UI"/>
              </a:rPr>
              <a:t>两者之差噪声更低，负相关更稳定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626864"/>
            <a:ext cx="4069080" cy="786384"/>
          </a:xfrm>
          <a:prstGeom prst="roundRect">
            <a:avLst>
              <a:gd name="adj" fmla="val 4000"/>
            </a:avLst>
          </a:prstGeom>
          <a:solidFill>
            <a:srgbClr val="ED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6695" y="4626864"/>
            <a:ext cx="363016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>
                <a:solidFill>
                  <a:srgbClr val="123A5F"/>
                </a:solidFill>
                <a:latin typeface="Segoe UI"/>
                <a:ea typeface="Microsoft YaHei"/>
                <a:cs typeface="Segoe UI"/>
              </a:rPr>
              <a:t>L = ⌊ M · S · (1 − Norm(Nₖₑᵧ)) 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6695" y="5047488"/>
            <a:ext cx="3630168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>
                <a:solidFill>
                  <a:srgbClr val="6B7885"/>
                </a:solidFill>
                <a:latin typeface="Segoe UI"/>
                <a:ea typeface="Microsoft YaHei"/>
                <a:cs typeface="Segoe UI"/>
              </a:rPr>
              <a:t>粗粒度指令数据即可自监督估计概念预算</a:t>
            </a:r>
          </a:p>
        </p:txBody>
      </p:sp>
      <p:pic>
        <p:nvPicPr>
          <p:cNvPr id="19" name="Picture 18" descr="strip_instruction_spar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0368" y="2029968"/>
            <a:ext cx="6181344" cy="1044260"/>
          </a:xfrm>
          <a:prstGeom prst="rect">
            <a:avLst/>
          </a:prstGeom>
          <a:effectLst/>
        </p:spPr>
      </p:pic>
      <p:sp>
        <p:nvSpPr>
          <p:cNvPr id="20" name="TextBox 19"/>
          <p:cNvSpPr txBox="1"/>
          <p:nvPr/>
        </p:nvSpPr>
        <p:spPr>
          <a:xfrm>
            <a:off x="5285232" y="1700784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1">
                <a:solidFill>
                  <a:srgbClr val="6B7885"/>
                </a:solidFill>
                <a:latin typeface="Segoe UI"/>
                <a:ea typeface="Microsoft YaHei"/>
                <a:cs typeface="Segoe UI"/>
              </a:rPr>
              <a:t>no mask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30568" y="1700784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1">
                <a:solidFill>
                  <a:srgbClr val="C8443C"/>
                </a:solidFill>
                <a:latin typeface="Segoe UI"/>
                <a:ea typeface="Microsoft YaHei"/>
                <a:cs typeface="Segoe UI"/>
              </a:rPr>
              <a:t>person, yellow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5904" y="1700784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1">
                <a:solidFill>
                  <a:srgbClr val="C8443C"/>
                </a:solidFill>
                <a:latin typeface="Segoe UI"/>
                <a:ea typeface="Microsoft YaHei"/>
                <a:cs typeface="Segoe UI"/>
              </a:rPr>
              <a:t>person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40" y="1700784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1">
                <a:solidFill>
                  <a:srgbClr val="6B7885"/>
                </a:solidFill>
                <a:latin typeface="Segoe UI"/>
                <a:ea typeface="Microsoft YaHei"/>
                <a:cs typeface="Segoe UI"/>
              </a:rPr>
              <a:t>all masked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230368" y="4224528"/>
            <a:ext cx="6181344" cy="0"/>
          </a:xfrm>
          <a:prstGeom prst="line">
            <a:avLst/>
          </a:prstGeom>
          <a:ln w="9525">
            <a:solidFill>
              <a:srgbClr val="DDE4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230368" y="4352544"/>
            <a:ext cx="618134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16212B"/>
                </a:solidFill>
                <a:latin typeface="Segoe UI"/>
                <a:ea typeface="Microsoft YaHei"/>
                <a:cs typeface="Segoe UI"/>
              </a:rPr>
              <a:t>遮蔽的关键词越多，保留的视觉概念越稀疏 —— 概念选择确实由指令驱动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30368" y="4754880"/>
            <a:ext cx="618134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B7885"/>
                </a:solidFill>
                <a:latin typeface="Segoe UI"/>
                <a:ea typeface="Microsoft YaHei"/>
                <a:cs typeface="Segoe UI"/>
              </a:rPr>
              <a:t>Q: where is the person in yellow?     A: the center of the image.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5779008"/>
            <a:ext cx="10634472" cy="512064"/>
          </a:xfrm>
          <a:prstGeom prst="roundRect">
            <a:avLst>
              <a:gd name="adj" fmla="val 10000"/>
            </a:avLst>
          </a:prstGeom>
          <a:solidFill>
            <a:srgbClr val="ED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5779008"/>
            <a:ext cx="50292" cy="512064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06424" y="5779008"/>
            <a:ext cx="9976104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50" b="1">
                <a:solidFill>
                  <a:srgbClr val="123A5F"/>
                </a:solidFill>
                <a:latin typeface="Segoe UI"/>
                <a:ea typeface="Microsoft YaHei"/>
                <a:cs typeface="Segoe UI"/>
              </a:rPr>
              <a:t>文本先验决定“保留多少”，动态规划再决定“保留哪里”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6428232"/>
            <a:ext cx="981151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AAB4BE"/>
                </a:solidFill>
                <a:latin typeface="Segoe UI"/>
                <a:ea typeface="Microsoft YaHei"/>
                <a:cs typeface="Segoe UI"/>
              </a:rPr>
              <a:t>Paper Figure 2 and Figure 4 (top row)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71632" y="6409944"/>
            <a:ext cx="6400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1">
                <a:solidFill>
                  <a:srgbClr val="AAB4BE"/>
                </a:solidFill>
                <a:latin typeface="Segoe UI"/>
                <a:ea typeface="Microsoft YaHei"/>
                <a:cs typeface="Segoe U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02336"/>
            <a:ext cx="1063447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spc="160">
                <a:solidFill>
                  <a:srgbClr val="1F6FB2"/>
                </a:solidFill>
                <a:latin typeface="Segoe UI"/>
                <a:ea typeface="Microsoft YaHei"/>
                <a:cs typeface="Segoe UI"/>
              </a:rPr>
              <a:t>方法 · 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94944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16212B"/>
                </a:solidFill>
                <a:latin typeface="Segoe UI"/>
                <a:ea typeface="Microsoft YaHei"/>
                <a:cs typeface="Segoe UI"/>
              </a:rPr>
              <a:t>三步构建 instruction-conditioned vision concepts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77240" y="1335024"/>
            <a:ext cx="1051560" cy="0"/>
          </a:xfrm>
          <a:prstGeom prst="line">
            <a:avLst/>
          </a:prstGeom>
          <a:ln w="3810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777240" y="1664208"/>
            <a:ext cx="3200400" cy="33101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664208"/>
            <a:ext cx="3200400" cy="50292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847088"/>
            <a:ext cx="457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1F6FB2"/>
                </a:solidFill>
                <a:latin typeface="Segoe UI"/>
                <a:ea typeface="Microsoft YaHei"/>
                <a:cs typeface="Segoe UI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286000"/>
            <a:ext cx="26517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>
                <a:solidFill>
                  <a:srgbClr val="16212B"/>
                </a:solidFill>
                <a:latin typeface="Segoe UI"/>
                <a:ea typeface="Microsoft YaHei"/>
                <a:cs typeface="Segoe UI"/>
              </a:rPr>
              <a:t>Semantic alignment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615184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>
                <a:solidFill>
                  <a:srgbClr val="6B7885"/>
                </a:solidFill>
                <a:latin typeface="Segoe UI"/>
                <a:ea typeface="Microsoft YaHei"/>
                <a:cs typeface="Segoe UI"/>
              </a:rPr>
              <a:t>对齐图像、文本与 LLM 语义空间</a:t>
            </a:r>
          </a:p>
        </p:txBody>
      </p:sp>
      <p:sp>
        <p:nvSpPr>
          <p:cNvPr id="10" name="Oval 9"/>
          <p:cNvSpPr/>
          <p:nvPr/>
        </p:nvSpPr>
        <p:spPr>
          <a:xfrm>
            <a:off x="1225295" y="3200400"/>
            <a:ext cx="658368" cy="658368"/>
          </a:xfrm>
          <a:prstGeom prst="ellipse">
            <a:avLst/>
          </a:prstGeom>
          <a:noFill/>
          <a:ln w="1778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25295" y="3383280"/>
            <a:ext cx="65836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F6FB2"/>
                </a:solidFill>
                <a:latin typeface="Segoe UI"/>
                <a:ea typeface="Microsoft YaHei"/>
                <a:cs typeface="Segoe UI"/>
              </a:rPr>
              <a:t>Gⱽ</a:t>
            </a:r>
          </a:p>
        </p:txBody>
      </p:sp>
      <p:sp>
        <p:nvSpPr>
          <p:cNvPr id="12" name="Oval 11"/>
          <p:cNvSpPr/>
          <p:nvPr/>
        </p:nvSpPr>
        <p:spPr>
          <a:xfrm>
            <a:off x="2066544" y="3200400"/>
            <a:ext cx="658368" cy="658368"/>
          </a:xfrm>
          <a:prstGeom prst="ellipse">
            <a:avLst/>
          </a:prstGeom>
          <a:noFill/>
          <a:ln w="17780">
            <a:solidFill>
              <a:srgbClr val="D98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66543" y="3383280"/>
            <a:ext cx="65836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D98A2B"/>
                </a:solidFill>
                <a:latin typeface="Segoe UI"/>
                <a:ea typeface="Microsoft YaHei"/>
                <a:cs typeface="Segoe UI"/>
              </a:rPr>
              <a:t>Gᵀ</a:t>
            </a:r>
          </a:p>
        </p:txBody>
      </p:sp>
      <p:sp>
        <p:nvSpPr>
          <p:cNvPr id="14" name="Oval 13"/>
          <p:cNvSpPr/>
          <p:nvPr/>
        </p:nvSpPr>
        <p:spPr>
          <a:xfrm>
            <a:off x="2907792" y="3200400"/>
            <a:ext cx="658368" cy="658368"/>
          </a:xfrm>
          <a:prstGeom prst="ellipse">
            <a:avLst/>
          </a:prstGeom>
          <a:noFill/>
          <a:ln w="17780">
            <a:solidFill>
              <a:srgbClr val="12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07791" y="3383280"/>
            <a:ext cx="65836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23A5F"/>
                </a:solidFill>
                <a:latin typeface="Segoe UI"/>
                <a:ea typeface="Microsoft YaHei"/>
                <a:cs typeface="Segoe UI"/>
              </a:rPr>
              <a:t>Gᴸᴸᴹ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883664" y="3529584"/>
            <a:ext cx="182879" cy="0"/>
          </a:xfrm>
          <a:prstGeom prst="line">
            <a:avLst/>
          </a:prstGeom>
          <a:ln w="9525">
            <a:solidFill>
              <a:srgbClr val="DDE4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724912" y="3529584"/>
            <a:ext cx="182880" cy="0"/>
          </a:xfrm>
          <a:prstGeom prst="line">
            <a:avLst/>
          </a:prstGeom>
          <a:ln w="9525">
            <a:solidFill>
              <a:srgbClr val="DDE4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51560" y="4224528"/>
            <a:ext cx="26517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1F6FB2"/>
                </a:solidFill>
                <a:latin typeface="Segoe UI"/>
                <a:ea typeface="Microsoft YaHei"/>
                <a:cs typeface="Segoe UI"/>
              </a:rPr>
              <a:t>Lₛₐ  语义对齐损失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069080" y="3319272"/>
            <a:ext cx="256032" cy="0"/>
          </a:xfrm>
          <a:prstGeom prst="line">
            <a:avLst/>
          </a:prstGeom>
          <a:ln w="17780">
            <a:solidFill>
              <a:srgbClr val="AAB4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416552" y="1664208"/>
            <a:ext cx="3200400" cy="3310128"/>
          </a:xfrm>
          <a:prstGeom prst="roundRect">
            <a:avLst>
              <a:gd name="adj" fmla="val 4000"/>
            </a:avLst>
          </a:prstGeom>
          <a:solidFill>
            <a:srgbClr val="EDF4FA"/>
          </a:solidFill>
          <a:ln w="9525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416552" y="1664208"/>
            <a:ext cx="3200400" cy="50292"/>
          </a:xfrm>
          <a:prstGeom prst="rect">
            <a:avLst/>
          </a:prstGeom>
          <a:solidFill>
            <a:srgbClr val="D9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90872" y="1847088"/>
            <a:ext cx="457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D98A2B"/>
                </a:solidFill>
                <a:latin typeface="Segoe UI"/>
                <a:ea typeface="Microsoft YaHei"/>
                <a:cs typeface="Segoe UI"/>
              </a:rPr>
              <a:t>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90872" y="2286000"/>
            <a:ext cx="26517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>
                <a:solidFill>
                  <a:srgbClr val="16212B"/>
                </a:solidFill>
                <a:latin typeface="Segoe UI"/>
                <a:ea typeface="Microsoft YaHei"/>
                <a:cs typeface="Segoe UI"/>
              </a:rPr>
              <a:t>Keyword selection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90872" y="2615184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>
                <a:solidFill>
                  <a:srgbClr val="6B7885"/>
                </a:solidFill>
                <a:latin typeface="Segoe UI"/>
                <a:ea typeface="Microsoft YaHei"/>
                <a:cs typeface="Segoe UI"/>
              </a:rPr>
              <a:t>自适应筛出与图像相关的关键词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690872" y="3182112"/>
            <a:ext cx="1261872" cy="329184"/>
          </a:xfrm>
          <a:prstGeom prst="roundRect">
            <a:avLst>
              <a:gd name="adj" fmla="val 14000"/>
            </a:avLst>
          </a:prstGeom>
          <a:solidFill>
            <a:srgbClr val="C84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90872" y="3182112"/>
            <a:ext cx="126187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person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080760" y="3182112"/>
            <a:ext cx="1261872" cy="329184"/>
          </a:xfrm>
          <a:prstGeom prst="roundRect">
            <a:avLst>
              <a:gd name="adj" fmla="val 14000"/>
            </a:avLst>
          </a:prstGeom>
          <a:solidFill>
            <a:srgbClr val="C84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80760" y="3182112"/>
            <a:ext cx="126187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yellow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690872" y="3602736"/>
            <a:ext cx="1261872" cy="32918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90872" y="3602736"/>
            <a:ext cx="126187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AAB4BE"/>
                </a:solidFill>
                <a:latin typeface="Segoe UI"/>
                <a:ea typeface="Microsoft YaHei"/>
                <a:cs typeface="Segoe UI"/>
              </a:rPr>
              <a:t>where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080760" y="3602736"/>
            <a:ext cx="1261872" cy="32918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80760" y="3602736"/>
            <a:ext cx="126187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AAB4BE"/>
                </a:solidFill>
                <a:latin typeface="Segoe UI"/>
                <a:ea typeface="Microsoft YaHei"/>
                <a:cs typeface="Segoe UI"/>
              </a:rPr>
              <a:t>the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90872" y="4224528"/>
            <a:ext cx="26517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D98A2B"/>
                </a:solidFill>
                <a:latin typeface="Segoe UI"/>
                <a:ea typeface="Microsoft YaHei"/>
                <a:cs typeface="Segoe UI"/>
              </a:rPr>
              <a:t>K &gt; E(K)  阈值以上视为关键词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708392" y="3319272"/>
            <a:ext cx="256032" cy="0"/>
          </a:xfrm>
          <a:prstGeom prst="line">
            <a:avLst/>
          </a:prstGeom>
          <a:ln w="17780">
            <a:solidFill>
              <a:srgbClr val="AAB4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8055864" y="1664208"/>
            <a:ext cx="3200400" cy="33101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055864" y="1664208"/>
            <a:ext cx="3200400" cy="50292"/>
          </a:xfrm>
          <a:prstGeom prst="rect">
            <a:avLst/>
          </a:prstGeom>
          <a:solidFill>
            <a:srgbClr val="2E8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330184" y="1847088"/>
            <a:ext cx="457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2E8B84"/>
                </a:solidFill>
                <a:latin typeface="Segoe UI"/>
                <a:ea typeface="Microsoft YaHei"/>
                <a:cs typeface="Segoe UI"/>
              </a:rPr>
              <a:t>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30184" y="2286000"/>
            <a:ext cx="26517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>
                <a:solidFill>
                  <a:srgbClr val="16212B"/>
                </a:solidFill>
                <a:latin typeface="Segoe UI"/>
                <a:ea typeface="Microsoft YaHei"/>
                <a:cs typeface="Segoe UI"/>
              </a:rPr>
              <a:t>Concept modeling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30184" y="2615184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>
                <a:solidFill>
                  <a:srgbClr val="6B7885"/>
                </a:solidFill>
                <a:latin typeface="Segoe UI"/>
                <a:ea typeface="Microsoft YaHei"/>
                <a:cs typeface="Segoe UI"/>
              </a:rPr>
              <a:t>学习可变长度概念及其位置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366760" y="3127248"/>
            <a:ext cx="310896" cy="201168"/>
          </a:xfrm>
          <a:prstGeom prst="rect">
            <a:avLst/>
          </a:prstGeom>
          <a:solidFill>
            <a:srgbClr val="E4E9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750808" y="3127248"/>
            <a:ext cx="310896" cy="201168"/>
          </a:xfrm>
          <a:prstGeom prst="rect">
            <a:avLst/>
          </a:prstGeom>
          <a:solidFill>
            <a:srgbClr val="E4E9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134856" y="3127248"/>
            <a:ext cx="310896" cy="201168"/>
          </a:xfrm>
          <a:prstGeom prst="rect">
            <a:avLst/>
          </a:prstGeom>
          <a:solidFill>
            <a:srgbClr val="E4E9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518904" y="3127248"/>
            <a:ext cx="310896" cy="201168"/>
          </a:xfrm>
          <a:prstGeom prst="rect">
            <a:avLst/>
          </a:prstGeom>
          <a:solidFill>
            <a:srgbClr val="E4E9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902952" y="3127248"/>
            <a:ext cx="310896" cy="201168"/>
          </a:xfrm>
          <a:prstGeom prst="rect">
            <a:avLst/>
          </a:prstGeom>
          <a:solidFill>
            <a:srgbClr val="E4E9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287000" y="3127248"/>
            <a:ext cx="310896" cy="201168"/>
          </a:xfrm>
          <a:prstGeom prst="rect">
            <a:avLst/>
          </a:prstGeom>
          <a:solidFill>
            <a:srgbClr val="E4E9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0671048" y="3127248"/>
            <a:ext cx="310896" cy="201168"/>
          </a:xfrm>
          <a:prstGeom prst="rect">
            <a:avLst/>
          </a:prstGeom>
          <a:solidFill>
            <a:srgbClr val="E4E9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366760" y="3383280"/>
            <a:ext cx="310896" cy="201168"/>
          </a:xfrm>
          <a:prstGeom prst="rect">
            <a:avLst/>
          </a:prstGeom>
          <a:solidFill>
            <a:srgbClr val="E4E9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750808" y="3383280"/>
            <a:ext cx="310896" cy="201168"/>
          </a:xfrm>
          <a:prstGeom prst="rect">
            <a:avLst/>
          </a:prstGeom>
          <a:solidFill>
            <a:srgbClr val="E4E9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134856" y="3383280"/>
            <a:ext cx="310896" cy="201168"/>
          </a:xfrm>
          <a:prstGeom prst="rect">
            <a:avLst/>
          </a:prstGeom>
          <a:solidFill>
            <a:srgbClr val="2E8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518904" y="3383280"/>
            <a:ext cx="310896" cy="201168"/>
          </a:xfrm>
          <a:prstGeom prst="rect">
            <a:avLst/>
          </a:prstGeom>
          <a:solidFill>
            <a:srgbClr val="2E8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902952" y="3383280"/>
            <a:ext cx="310896" cy="201168"/>
          </a:xfrm>
          <a:prstGeom prst="rect">
            <a:avLst/>
          </a:prstGeom>
          <a:solidFill>
            <a:srgbClr val="E4E9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0287000" y="3383280"/>
            <a:ext cx="310896" cy="201168"/>
          </a:xfrm>
          <a:prstGeom prst="rect">
            <a:avLst/>
          </a:prstGeom>
          <a:solidFill>
            <a:srgbClr val="E4E9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0671048" y="3383280"/>
            <a:ext cx="310896" cy="201168"/>
          </a:xfrm>
          <a:prstGeom prst="rect">
            <a:avLst/>
          </a:prstGeom>
          <a:solidFill>
            <a:srgbClr val="E4E9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8366760" y="3639312"/>
            <a:ext cx="310896" cy="201168"/>
          </a:xfrm>
          <a:prstGeom prst="rect">
            <a:avLst/>
          </a:prstGeom>
          <a:solidFill>
            <a:srgbClr val="E4E9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750808" y="3639312"/>
            <a:ext cx="310896" cy="201168"/>
          </a:xfrm>
          <a:prstGeom prst="rect">
            <a:avLst/>
          </a:prstGeom>
          <a:solidFill>
            <a:srgbClr val="E4E9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134856" y="3639312"/>
            <a:ext cx="310896" cy="201168"/>
          </a:xfrm>
          <a:prstGeom prst="rect">
            <a:avLst/>
          </a:prstGeom>
          <a:solidFill>
            <a:srgbClr val="2E8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9518904" y="3639312"/>
            <a:ext cx="310896" cy="201168"/>
          </a:xfrm>
          <a:prstGeom prst="rect">
            <a:avLst/>
          </a:prstGeom>
          <a:solidFill>
            <a:srgbClr val="2E8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902952" y="3639312"/>
            <a:ext cx="310896" cy="201168"/>
          </a:xfrm>
          <a:prstGeom prst="rect">
            <a:avLst/>
          </a:prstGeom>
          <a:solidFill>
            <a:srgbClr val="2E8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0287000" y="3639312"/>
            <a:ext cx="310896" cy="201168"/>
          </a:xfrm>
          <a:prstGeom prst="rect">
            <a:avLst/>
          </a:prstGeom>
          <a:solidFill>
            <a:srgbClr val="E4E9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0671048" y="3639312"/>
            <a:ext cx="310896" cy="201168"/>
          </a:xfrm>
          <a:prstGeom prst="rect">
            <a:avLst/>
          </a:prstGeom>
          <a:solidFill>
            <a:srgbClr val="E4E9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8366760" y="3895344"/>
            <a:ext cx="310896" cy="201168"/>
          </a:xfrm>
          <a:prstGeom prst="rect">
            <a:avLst/>
          </a:prstGeom>
          <a:solidFill>
            <a:srgbClr val="E4E9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750808" y="3895344"/>
            <a:ext cx="310896" cy="201168"/>
          </a:xfrm>
          <a:prstGeom prst="rect">
            <a:avLst/>
          </a:prstGeom>
          <a:solidFill>
            <a:srgbClr val="E4E9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9134856" y="3895344"/>
            <a:ext cx="310896" cy="201168"/>
          </a:xfrm>
          <a:prstGeom prst="rect">
            <a:avLst/>
          </a:prstGeom>
          <a:solidFill>
            <a:srgbClr val="E4E9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9518904" y="3895344"/>
            <a:ext cx="310896" cy="201168"/>
          </a:xfrm>
          <a:prstGeom prst="rect">
            <a:avLst/>
          </a:prstGeom>
          <a:solidFill>
            <a:srgbClr val="E4E9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9902952" y="3895344"/>
            <a:ext cx="310896" cy="201168"/>
          </a:xfrm>
          <a:prstGeom prst="rect">
            <a:avLst/>
          </a:prstGeom>
          <a:solidFill>
            <a:srgbClr val="E4E9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0287000" y="3895344"/>
            <a:ext cx="310896" cy="201168"/>
          </a:xfrm>
          <a:prstGeom prst="rect">
            <a:avLst/>
          </a:prstGeom>
          <a:solidFill>
            <a:srgbClr val="E4E9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10671048" y="3895344"/>
            <a:ext cx="310896" cy="201168"/>
          </a:xfrm>
          <a:prstGeom prst="rect">
            <a:avLst/>
          </a:prstGeom>
          <a:solidFill>
            <a:srgbClr val="E4E9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330184" y="4224528"/>
            <a:ext cx="26517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2E8B84"/>
                </a:solidFill>
                <a:latin typeface="Segoe UI"/>
                <a:ea typeface="Microsoft YaHei"/>
                <a:cs typeface="Segoe UI"/>
              </a:rPr>
              <a:t>Lᵥ꜀ₘ  动态概念损失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777240" y="5175504"/>
            <a:ext cx="10634472" cy="0"/>
          </a:xfrm>
          <a:prstGeom prst="line">
            <a:avLst/>
          </a:prstGeom>
          <a:ln w="9525">
            <a:solidFill>
              <a:srgbClr val="DDE4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777240" y="5285232"/>
            <a:ext cx="1063447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6B7885"/>
                </a:solidFill>
                <a:latin typeface="Segoe UI"/>
                <a:ea typeface="Microsoft YaHei"/>
                <a:cs typeface="Segoe UI"/>
              </a:rPr>
              <a:t>总目标  </a:t>
            </a:r>
            <a:r>
              <a:rPr sz="1600" b="1">
                <a:solidFill>
                  <a:srgbClr val="16212B"/>
                </a:solidFill>
                <a:latin typeface="Segoe UI"/>
                <a:ea typeface="Microsoft YaHei"/>
                <a:cs typeface="Segoe UI"/>
              </a:rPr>
              <a:t>L = L</a:t>
            </a:r>
            <a:r>
              <a:rPr sz="1600" b="1">
                <a:solidFill>
                  <a:srgbClr val="16212B"/>
                </a:solidFill>
                <a:latin typeface="Segoe UI"/>
                <a:ea typeface="Microsoft YaHei"/>
                <a:cs typeface="Segoe UI"/>
              </a:rPr>
              <a:t>ₙₜₚ</a:t>
            </a:r>
            <a:r>
              <a:rPr sz="1600" b="1">
                <a:solidFill>
                  <a:srgbClr val="16212B"/>
                </a:solidFill>
                <a:latin typeface="Segoe UI"/>
                <a:ea typeface="Microsoft YaHei"/>
                <a:cs typeface="Segoe UI"/>
              </a:rPr>
              <a:t> + ε(r) · L</a:t>
            </a:r>
            <a:r>
              <a:rPr sz="1600" b="1">
                <a:solidFill>
                  <a:srgbClr val="16212B"/>
                </a:solidFill>
                <a:latin typeface="Segoe UI"/>
                <a:ea typeface="Microsoft YaHei"/>
                <a:cs typeface="Segoe UI"/>
              </a:rPr>
              <a:t>ᵥ꜀ₘ</a:t>
            </a:r>
            <a:r>
              <a:rPr sz="1600" b="0">
                <a:solidFill>
                  <a:srgbClr val="6B7885"/>
                </a:solidFill>
                <a:latin typeface="Segoe UI"/>
                <a:ea typeface="Microsoft YaHei"/>
                <a:cs typeface="Segoe UI"/>
              </a:rPr>
              <a:t>        无需 concept-level 标注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777240" y="5779008"/>
            <a:ext cx="10634472" cy="512064"/>
          </a:xfrm>
          <a:prstGeom prst="roundRect">
            <a:avLst>
              <a:gd name="adj" fmla="val 10000"/>
            </a:avLst>
          </a:prstGeom>
          <a:solidFill>
            <a:srgbClr val="ED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77240" y="5779008"/>
            <a:ext cx="50292" cy="512064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106424" y="5779008"/>
            <a:ext cx="9976104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50" b="1">
                <a:solidFill>
                  <a:srgbClr val="123A5F"/>
                </a:solidFill>
                <a:latin typeface="Segoe UI"/>
                <a:ea typeface="Microsoft YaHei"/>
                <a:cs typeface="Segoe UI"/>
              </a:rPr>
              <a:t>两阶段训练：先学会“什么与图像相关”，再学会“保留多少、保留哪里”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77240" y="6428232"/>
            <a:ext cx="981151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AAB4BE"/>
                </a:solidFill>
                <a:latin typeface="Segoe UI"/>
                <a:ea typeface="Microsoft YaHei"/>
                <a:cs typeface="Segoe UI"/>
              </a:rPr>
              <a:t>Editable reconstruction of Paper Figure 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771632" y="6409944"/>
            <a:ext cx="6400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1">
                <a:solidFill>
                  <a:srgbClr val="AAB4BE"/>
                </a:solidFill>
                <a:latin typeface="Segoe UI"/>
                <a:ea typeface="Microsoft YaHei"/>
                <a:cs typeface="Segoe U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02336"/>
            <a:ext cx="1063447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spc="160">
                <a:solidFill>
                  <a:srgbClr val="1F6FB2"/>
                </a:solidFill>
                <a:latin typeface="Segoe UI"/>
                <a:ea typeface="Microsoft YaHei"/>
                <a:cs typeface="Segoe UI"/>
              </a:rPr>
              <a:t>算法 · ALGORITHM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94944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16212B"/>
                </a:solidFill>
                <a:latin typeface="Segoe UI"/>
                <a:ea typeface="Microsoft YaHei"/>
                <a:cs typeface="Segoe UI"/>
              </a:rPr>
              <a:t>Forward–Backward 学习可变长度对齐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77240" y="1335024"/>
            <a:ext cx="1051560" cy="0"/>
          </a:xfrm>
          <a:prstGeom prst="line">
            <a:avLst/>
          </a:prstGeom>
          <a:ln w="3810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777240" y="1664208"/>
            <a:ext cx="3931920" cy="3310128"/>
          </a:xfrm>
          <a:prstGeom prst="roundRect">
            <a:avLst>
              <a:gd name="adj" fmla="val 4000"/>
            </a:avLst>
          </a:prstGeom>
          <a:solidFill>
            <a:srgbClr val="ED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1828800"/>
            <a:ext cx="334670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1F6FB2"/>
                </a:solidFill>
                <a:latin typeface="Segoe UI"/>
                <a:ea typeface="Microsoft YaHei"/>
                <a:cs typeface="Segoe UI"/>
              </a:rPr>
              <a:t>目标序列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" y="2139696"/>
            <a:ext cx="334670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100" b="1">
                <a:solidFill>
                  <a:srgbClr val="123A5F"/>
                </a:solidFill>
                <a:latin typeface="Segoe UI"/>
                <a:ea typeface="Microsoft YaHei"/>
                <a:cs typeface="Segoe UI"/>
              </a:rPr>
              <a:t>Zᵥ = [ ∅, ★, ∅, ★, ∅ 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" y="2578608"/>
            <a:ext cx="33467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B7885"/>
                </a:solidFill>
                <a:latin typeface="Segoe UI"/>
                <a:ea typeface="Microsoft YaHei"/>
                <a:cs typeface="Segoe UI"/>
              </a:rPr>
              <a:t>长度 L 由文本先验给出，位置未知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69848" y="2962656"/>
            <a:ext cx="3346704" cy="0"/>
          </a:xfrm>
          <a:prstGeom prst="line">
            <a:avLst/>
          </a:prstGeom>
          <a:ln w="9525">
            <a:solidFill>
              <a:srgbClr val="DDE4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69848" y="3127248"/>
            <a:ext cx="334670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1F6FB2"/>
                </a:solidFill>
                <a:latin typeface="Segoe UI"/>
                <a:ea typeface="Microsoft YaHei"/>
                <a:cs typeface="Segoe UI"/>
              </a:rPr>
              <a:t>优化目标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3419856"/>
            <a:ext cx="334670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>
                <a:solidFill>
                  <a:srgbClr val="16212B"/>
                </a:solidFill>
                <a:latin typeface="Segoe UI"/>
                <a:ea typeface="Microsoft YaHei"/>
                <a:cs typeface="Segoe UI"/>
              </a:rPr>
              <a:t>p(Zᵥ|Yᵥ) = Σₗ α(t,l) · β(t,l)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" y="3840480"/>
            <a:ext cx="334670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>
                <a:solidFill>
                  <a:srgbClr val="C8443C"/>
                </a:solidFill>
                <a:latin typeface="Segoe UI"/>
                <a:ea typeface="Microsoft YaHei"/>
                <a:cs typeface="Segoe UI"/>
              </a:rPr>
              <a:t>Lᵥ꜀ₘ = − log p(Zᵥ|Yᵥ)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4370832"/>
            <a:ext cx="334670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6B7885"/>
                </a:solidFill>
                <a:latin typeface="Segoe UI"/>
                <a:ea typeface="Microsoft YaHei"/>
                <a:cs typeface="Segoe UI"/>
              </a:rPr>
              <a:t>复杂度  </a:t>
            </a:r>
            <a:r>
              <a:rPr sz="1600" b="1">
                <a:solidFill>
                  <a:srgbClr val="AAB4BE"/>
                </a:solidFill>
                <a:latin typeface="Segoe UI"/>
                <a:ea typeface="Microsoft YaHei"/>
                <a:cs typeface="Segoe UI"/>
              </a:rPr>
              <a:t>O(2ᴹ)</a:t>
            </a:r>
            <a:r>
              <a:rPr sz="1600" b="0">
                <a:solidFill>
                  <a:srgbClr val="6B7885"/>
                </a:solidFill>
                <a:latin typeface="Segoe UI"/>
                <a:ea typeface="Microsoft YaHei"/>
                <a:cs typeface="Segoe UI"/>
              </a:rPr>
              <a:t>  →  </a:t>
            </a:r>
            <a:r>
              <a:rPr sz="1600" b="1">
                <a:solidFill>
                  <a:srgbClr val="123A5F"/>
                </a:solidFill>
                <a:latin typeface="Segoe UI"/>
                <a:ea typeface="Microsoft YaHei"/>
                <a:cs typeface="Segoe UI"/>
              </a:rPr>
              <a:t>O(M²)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32120" y="1755648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6B7885"/>
                </a:solidFill>
                <a:latin typeface="Segoe UI"/>
                <a:ea typeface="Microsoft YaHei"/>
                <a:cs typeface="Segoe UI"/>
              </a:rPr>
              <a:t>extended target  l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532120" y="2212848"/>
            <a:ext cx="786384" cy="0"/>
          </a:xfrm>
          <a:prstGeom prst="line">
            <a:avLst/>
          </a:prstGeom>
          <a:ln w="9525">
            <a:solidFill>
              <a:srgbClr val="E3ECF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532120" y="2212848"/>
            <a:ext cx="786384" cy="502920"/>
          </a:xfrm>
          <a:prstGeom prst="line">
            <a:avLst/>
          </a:prstGeom>
          <a:ln w="9525">
            <a:solidFill>
              <a:srgbClr val="E3ECF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532120" y="2715768"/>
            <a:ext cx="786384" cy="0"/>
          </a:xfrm>
          <a:prstGeom prst="line">
            <a:avLst/>
          </a:prstGeom>
          <a:ln w="9525">
            <a:solidFill>
              <a:srgbClr val="E3ECF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532120" y="2715768"/>
            <a:ext cx="786384" cy="502920"/>
          </a:xfrm>
          <a:prstGeom prst="line">
            <a:avLst/>
          </a:prstGeom>
          <a:ln w="9525">
            <a:solidFill>
              <a:srgbClr val="E3ECF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532120" y="3218688"/>
            <a:ext cx="786384" cy="0"/>
          </a:xfrm>
          <a:prstGeom prst="line">
            <a:avLst/>
          </a:prstGeom>
          <a:ln w="9525">
            <a:solidFill>
              <a:srgbClr val="E3ECF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532120" y="3218688"/>
            <a:ext cx="786384" cy="502920"/>
          </a:xfrm>
          <a:prstGeom prst="line">
            <a:avLst/>
          </a:prstGeom>
          <a:ln w="9525">
            <a:solidFill>
              <a:srgbClr val="E3ECF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532120" y="3721608"/>
            <a:ext cx="786384" cy="0"/>
          </a:xfrm>
          <a:prstGeom prst="line">
            <a:avLst/>
          </a:prstGeom>
          <a:ln w="9525">
            <a:solidFill>
              <a:srgbClr val="E3ECF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532120" y="3721608"/>
            <a:ext cx="786384" cy="502920"/>
          </a:xfrm>
          <a:prstGeom prst="line">
            <a:avLst/>
          </a:prstGeom>
          <a:ln w="9525">
            <a:solidFill>
              <a:srgbClr val="E3ECF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532120" y="4224528"/>
            <a:ext cx="786384" cy="0"/>
          </a:xfrm>
          <a:prstGeom prst="line">
            <a:avLst/>
          </a:prstGeom>
          <a:ln w="9525">
            <a:solidFill>
              <a:srgbClr val="E3ECF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318504" y="2212848"/>
            <a:ext cx="786384" cy="0"/>
          </a:xfrm>
          <a:prstGeom prst="line">
            <a:avLst/>
          </a:prstGeom>
          <a:ln w="9525">
            <a:solidFill>
              <a:srgbClr val="E3ECF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318504" y="2212848"/>
            <a:ext cx="786384" cy="502920"/>
          </a:xfrm>
          <a:prstGeom prst="line">
            <a:avLst/>
          </a:prstGeom>
          <a:ln w="9525">
            <a:solidFill>
              <a:srgbClr val="E3ECF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318504" y="2715768"/>
            <a:ext cx="786384" cy="0"/>
          </a:xfrm>
          <a:prstGeom prst="line">
            <a:avLst/>
          </a:prstGeom>
          <a:ln w="9525">
            <a:solidFill>
              <a:srgbClr val="E3ECF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318504" y="2715768"/>
            <a:ext cx="786384" cy="502920"/>
          </a:xfrm>
          <a:prstGeom prst="line">
            <a:avLst/>
          </a:prstGeom>
          <a:ln w="9525">
            <a:solidFill>
              <a:srgbClr val="E3ECF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318504" y="3218688"/>
            <a:ext cx="786384" cy="0"/>
          </a:xfrm>
          <a:prstGeom prst="line">
            <a:avLst/>
          </a:prstGeom>
          <a:ln w="9525">
            <a:solidFill>
              <a:srgbClr val="E3ECF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318504" y="3218688"/>
            <a:ext cx="786384" cy="502920"/>
          </a:xfrm>
          <a:prstGeom prst="line">
            <a:avLst/>
          </a:prstGeom>
          <a:ln w="9525">
            <a:solidFill>
              <a:srgbClr val="E3ECF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318504" y="3721608"/>
            <a:ext cx="786384" cy="0"/>
          </a:xfrm>
          <a:prstGeom prst="line">
            <a:avLst/>
          </a:prstGeom>
          <a:ln w="9525">
            <a:solidFill>
              <a:srgbClr val="E3ECF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6318504" y="3721608"/>
            <a:ext cx="786384" cy="502920"/>
          </a:xfrm>
          <a:prstGeom prst="line">
            <a:avLst/>
          </a:prstGeom>
          <a:ln w="9525">
            <a:solidFill>
              <a:srgbClr val="E3ECF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6318504" y="4224528"/>
            <a:ext cx="786384" cy="0"/>
          </a:xfrm>
          <a:prstGeom prst="line">
            <a:avLst/>
          </a:prstGeom>
          <a:ln w="9525">
            <a:solidFill>
              <a:srgbClr val="E3ECF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104888" y="2212848"/>
            <a:ext cx="786383" cy="0"/>
          </a:xfrm>
          <a:prstGeom prst="line">
            <a:avLst/>
          </a:prstGeom>
          <a:ln w="9525">
            <a:solidFill>
              <a:srgbClr val="E3ECF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104888" y="2212848"/>
            <a:ext cx="786383" cy="502920"/>
          </a:xfrm>
          <a:prstGeom prst="line">
            <a:avLst/>
          </a:prstGeom>
          <a:ln w="9525">
            <a:solidFill>
              <a:srgbClr val="E3ECF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7104888" y="2715768"/>
            <a:ext cx="786383" cy="0"/>
          </a:xfrm>
          <a:prstGeom prst="line">
            <a:avLst/>
          </a:prstGeom>
          <a:ln w="9525">
            <a:solidFill>
              <a:srgbClr val="E3ECF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7104888" y="2715768"/>
            <a:ext cx="786383" cy="502920"/>
          </a:xfrm>
          <a:prstGeom prst="line">
            <a:avLst/>
          </a:prstGeom>
          <a:ln w="9525">
            <a:solidFill>
              <a:srgbClr val="E3ECF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7104888" y="3218688"/>
            <a:ext cx="786383" cy="0"/>
          </a:xfrm>
          <a:prstGeom prst="line">
            <a:avLst/>
          </a:prstGeom>
          <a:ln w="9525">
            <a:solidFill>
              <a:srgbClr val="E3ECF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7104888" y="3218688"/>
            <a:ext cx="786383" cy="502920"/>
          </a:xfrm>
          <a:prstGeom prst="line">
            <a:avLst/>
          </a:prstGeom>
          <a:ln w="9525">
            <a:solidFill>
              <a:srgbClr val="E3ECF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7104888" y="3721608"/>
            <a:ext cx="786383" cy="0"/>
          </a:xfrm>
          <a:prstGeom prst="line">
            <a:avLst/>
          </a:prstGeom>
          <a:ln w="9525">
            <a:solidFill>
              <a:srgbClr val="E3ECF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7104888" y="3721608"/>
            <a:ext cx="786383" cy="502920"/>
          </a:xfrm>
          <a:prstGeom prst="line">
            <a:avLst/>
          </a:prstGeom>
          <a:ln w="9525">
            <a:solidFill>
              <a:srgbClr val="E3ECF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7104888" y="4224528"/>
            <a:ext cx="786383" cy="0"/>
          </a:xfrm>
          <a:prstGeom prst="line">
            <a:avLst/>
          </a:prstGeom>
          <a:ln w="9525">
            <a:solidFill>
              <a:srgbClr val="E3ECF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7891271" y="2212848"/>
            <a:ext cx="786385" cy="0"/>
          </a:xfrm>
          <a:prstGeom prst="line">
            <a:avLst/>
          </a:prstGeom>
          <a:ln w="9525">
            <a:solidFill>
              <a:srgbClr val="E3ECF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7891271" y="2212848"/>
            <a:ext cx="786385" cy="502920"/>
          </a:xfrm>
          <a:prstGeom prst="line">
            <a:avLst/>
          </a:prstGeom>
          <a:ln w="9525">
            <a:solidFill>
              <a:srgbClr val="E3ECF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7891271" y="2715768"/>
            <a:ext cx="786385" cy="0"/>
          </a:xfrm>
          <a:prstGeom prst="line">
            <a:avLst/>
          </a:prstGeom>
          <a:ln w="9525">
            <a:solidFill>
              <a:srgbClr val="E3ECF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7891271" y="2715768"/>
            <a:ext cx="786385" cy="502920"/>
          </a:xfrm>
          <a:prstGeom prst="line">
            <a:avLst/>
          </a:prstGeom>
          <a:ln w="9525">
            <a:solidFill>
              <a:srgbClr val="E3ECF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7891271" y="3218688"/>
            <a:ext cx="786385" cy="0"/>
          </a:xfrm>
          <a:prstGeom prst="line">
            <a:avLst/>
          </a:prstGeom>
          <a:ln w="9525">
            <a:solidFill>
              <a:srgbClr val="E3ECF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7891271" y="3218688"/>
            <a:ext cx="786385" cy="502920"/>
          </a:xfrm>
          <a:prstGeom prst="line">
            <a:avLst/>
          </a:prstGeom>
          <a:ln w="9525">
            <a:solidFill>
              <a:srgbClr val="E3ECF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7891271" y="3721608"/>
            <a:ext cx="786385" cy="0"/>
          </a:xfrm>
          <a:prstGeom prst="line">
            <a:avLst/>
          </a:prstGeom>
          <a:ln w="9525">
            <a:solidFill>
              <a:srgbClr val="E3ECF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7891271" y="3721608"/>
            <a:ext cx="786385" cy="502920"/>
          </a:xfrm>
          <a:prstGeom prst="line">
            <a:avLst/>
          </a:prstGeom>
          <a:ln w="9525">
            <a:solidFill>
              <a:srgbClr val="E3ECF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7891271" y="4224528"/>
            <a:ext cx="786385" cy="0"/>
          </a:xfrm>
          <a:prstGeom prst="line">
            <a:avLst/>
          </a:prstGeom>
          <a:ln w="9525">
            <a:solidFill>
              <a:srgbClr val="E3ECF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8677656" y="2212848"/>
            <a:ext cx="786384" cy="0"/>
          </a:xfrm>
          <a:prstGeom prst="line">
            <a:avLst/>
          </a:prstGeom>
          <a:ln w="9525">
            <a:solidFill>
              <a:srgbClr val="E3ECF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8677656" y="2212848"/>
            <a:ext cx="786384" cy="502920"/>
          </a:xfrm>
          <a:prstGeom prst="line">
            <a:avLst/>
          </a:prstGeom>
          <a:ln w="9525">
            <a:solidFill>
              <a:srgbClr val="E3ECF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8677656" y="2715768"/>
            <a:ext cx="786384" cy="0"/>
          </a:xfrm>
          <a:prstGeom prst="line">
            <a:avLst/>
          </a:prstGeom>
          <a:ln w="9525">
            <a:solidFill>
              <a:srgbClr val="E3ECF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8677656" y="2715768"/>
            <a:ext cx="786384" cy="502920"/>
          </a:xfrm>
          <a:prstGeom prst="line">
            <a:avLst/>
          </a:prstGeom>
          <a:ln w="9525">
            <a:solidFill>
              <a:srgbClr val="E3ECF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8677656" y="3218688"/>
            <a:ext cx="786384" cy="0"/>
          </a:xfrm>
          <a:prstGeom prst="line">
            <a:avLst/>
          </a:prstGeom>
          <a:ln w="9525">
            <a:solidFill>
              <a:srgbClr val="E3ECF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8677656" y="3218688"/>
            <a:ext cx="786384" cy="502920"/>
          </a:xfrm>
          <a:prstGeom prst="line">
            <a:avLst/>
          </a:prstGeom>
          <a:ln w="9525">
            <a:solidFill>
              <a:srgbClr val="E3ECF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8677656" y="3721608"/>
            <a:ext cx="786384" cy="0"/>
          </a:xfrm>
          <a:prstGeom prst="line">
            <a:avLst/>
          </a:prstGeom>
          <a:ln w="9525">
            <a:solidFill>
              <a:srgbClr val="E3ECF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8677656" y="3721608"/>
            <a:ext cx="786384" cy="502920"/>
          </a:xfrm>
          <a:prstGeom prst="line">
            <a:avLst/>
          </a:prstGeom>
          <a:ln w="9525">
            <a:solidFill>
              <a:srgbClr val="E3ECF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8677656" y="4224528"/>
            <a:ext cx="786384" cy="0"/>
          </a:xfrm>
          <a:prstGeom prst="line">
            <a:avLst/>
          </a:prstGeom>
          <a:ln w="9525">
            <a:solidFill>
              <a:srgbClr val="E3ECF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9464040" y="2212848"/>
            <a:ext cx="786384" cy="0"/>
          </a:xfrm>
          <a:prstGeom prst="line">
            <a:avLst/>
          </a:prstGeom>
          <a:ln w="9525">
            <a:solidFill>
              <a:srgbClr val="E3ECF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9464040" y="2212848"/>
            <a:ext cx="786384" cy="502920"/>
          </a:xfrm>
          <a:prstGeom prst="line">
            <a:avLst/>
          </a:prstGeom>
          <a:ln w="9525">
            <a:solidFill>
              <a:srgbClr val="E3ECF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9464040" y="2715768"/>
            <a:ext cx="786384" cy="0"/>
          </a:xfrm>
          <a:prstGeom prst="line">
            <a:avLst/>
          </a:prstGeom>
          <a:ln w="9525">
            <a:solidFill>
              <a:srgbClr val="E3ECF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9464040" y="2715768"/>
            <a:ext cx="786384" cy="502920"/>
          </a:xfrm>
          <a:prstGeom prst="line">
            <a:avLst/>
          </a:prstGeom>
          <a:ln w="9525">
            <a:solidFill>
              <a:srgbClr val="E3ECF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9464040" y="3218688"/>
            <a:ext cx="786384" cy="0"/>
          </a:xfrm>
          <a:prstGeom prst="line">
            <a:avLst/>
          </a:prstGeom>
          <a:ln w="9525">
            <a:solidFill>
              <a:srgbClr val="E3ECF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9464040" y="3218688"/>
            <a:ext cx="786384" cy="502920"/>
          </a:xfrm>
          <a:prstGeom prst="line">
            <a:avLst/>
          </a:prstGeom>
          <a:ln w="9525">
            <a:solidFill>
              <a:srgbClr val="E3ECF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9464040" y="3721608"/>
            <a:ext cx="786384" cy="0"/>
          </a:xfrm>
          <a:prstGeom prst="line">
            <a:avLst/>
          </a:prstGeom>
          <a:ln w="9525">
            <a:solidFill>
              <a:srgbClr val="E3ECF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9464040" y="3721608"/>
            <a:ext cx="786384" cy="502920"/>
          </a:xfrm>
          <a:prstGeom prst="line">
            <a:avLst/>
          </a:prstGeom>
          <a:ln w="9525">
            <a:solidFill>
              <a:srgbClr val="E3ECF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9464040" y="4224528"/>
            <a:ext cx="786384" cy="0"/>
          </a:xfrm>
          <a:prstGeom prst="line">
            <a:avLst/>
          </a:prstGeom>
          <a:ln w="9525">
            <a:solidFill>
              <a:srgbClr val="E3ECF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5532120" y="2212848"/>
            <a:ext cx="786384" cy="502920"/>
          </a:xfrm>
          <a:prstGeom prst="line">
            <a:avLst/>
          </a:prstGeom>
          <a:ln w="34925">
            <a:solidFill>
              <a:srgbClr val="C844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6318504" y="2715768"/>
            <a:ext cx="786384" cy="0"/>
          </a:xfrm>
          <a:prstGeom prst="line">
            <a:avLst/>
          </a:prstGeom>
          <a:ln w="34925">
            <a:solidFill>
              <a:srgbClr val="C844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7104888" y="2715768"/>
            <a:ext cx="786383" cy="502920"/>
          </a:xfrm>
          <a:prstGeom prst="line">
            <a:avLst/>
          </a:prstGeom>
          <a:ln w="34925">
            <a:solidFill>
              <a:srgbClr val="C844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7891271" y="3218688"/>
            <a:ext cx="786385" cy="0"/>
          </a:xfrm>
          <a:prstGeom prst="line">
            <a:avLst/>
          </a:prstGeom>
          <a:ln w="34925">
            <a:solidFill>
              <a:srgbClr val="C844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8677656" y="3218688"/>
            <a:ext cx="786384" cy="502920"/>
          </a:xfrm>
          <a:prstGeom prst="line">
            <a:avLst/>
          </a:prstGeom>
          <a:ln w="34925">
            <a:solidFill>
              <a:srgbClr val="C844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9464040" y="3721608"/>
            <a:ext cx="786384" cy="502920"/>
          </a:xfrm>
          <a:prstGeom prst="line">
            <a:avLst/>
          </a:prstGeom>
          <a:ln w="34925">
            <a:solidFill>
              <a:srgbClr val="C844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Oval 74"/>
          <p:cNvSpPr/>
          <p:nvPr/>
        </p:nvSpPr>
        <p:spPr>
          <a:xfrm>
            <a:off x="5454396" y="2135124"/>
            <a:ext cx="155448" cy="155448"/>
          </a:xfrm>
          <a:prstGeom prst="ellipse">
            <a:avLst/>
          </a:prstGeom>
          <a:solidFill>
            <a:srgbClr val="C8443C"/>
          </a:solidFill>
          <a:ln w="11430">
            <a:solidFill>
              <a:srgbClr val="C84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5472683" y="2656332"/>
            <a:ext cx="118872" cy="11887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8FB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5472683" y="3159252"/>
            <a:ext cx="118872" cy="11887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8FB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5472683" y="3662172"/>
            <a:ext cx="118872" cy="11887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8FB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5472683" y="4165091"/>
            <a:ext cx="118872" cy="11887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8FB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6259068" y="2153412"/>
            <a:ext cx="118872" cy="11887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8FB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6240780" y="2638044"/>
            <a:ext cx="155448" cy="155448"/>
          </a:xfrm>
          <a:prstGeom prst="ellipse">
            <a:avLst/>
          </a:prstGeom>
          <a:solidFill>
            <a:srgbClr val="C8443C"/>
          </a:solidFill>
          <a:ln w="11430">
            <a:solidFill>
              <a:srgbClr val="C84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6259068" y="3159252"/>
            <a:ext cx="118872" cy="11887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8FB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6259068" y="3662172"/>
            <a:ext cx="118872" cy="11887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8FB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6259068" y="4165091"/>
            <a:ext cx="118872" cy="11887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8FB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7045451" y="2153412"/>
            <a:ext cx="118872" cy="11887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8FB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7027164" y="2638044"/>
            <a:ext cx="155448" cy="155448"/>
          </a:xfrm>
          <a:prstGeom prst="ellipse">
            <a:avLst/>
          </a:prstGeom>
          <a:solidFill>
            <a:srgbClr val="C8443C"/>
          </a:solidFill>
          <a:ln w="11430">
            <a:solidFill>
              <a:srgbClr val="C84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7045451" y="3159252"/>
            <a:ext cx="118872" cy="11887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8FB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7045451" y="3662172"/>
            <a:ext cx="118872" cy="11887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8FB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7045451" y="4165091"/>
            <a:ext cx="118872" cy="11887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8FB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7831836" y="2153412"/>
            <a:ext cx="118872" cy="11887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8FB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7831836" y="2656332"/>
            <a:ext cx="118872" cy="11887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8FB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7813547" y="3140964"/>
            <a:ext cx="155448" cy="155448"/>
          </a:xfrm>
          <a:prstGeom prst="ellipse">
            <a:avLst/>
          </a:prstGeom>
          <a:solidFill>
            <a:srgbClr val="C8443C"/>
          </a:solidFill>
          <a:ln w="11430">
            <a:solidFill>
              <a:srgbClr val="C84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7831836" y="3662172"/>
            <a:ext cx="118872" cy="11887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8FB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7831836" y="4165091"/>
            <a:ext cx="118872" cy="11887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8FB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8618220" y="2153412"/>
            <a:ext cx="118872" cy="11887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8FB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8618220" y="2656332"/>
            <a:ext cx="118872" cy="11887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8FB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8599932" y="3140964"/>
            <a:ext cx="155448" cy="155448"/>
          </a:xfrm>
          <a:prstGeom prst="ellipse">
            <a:avLst/>
          </a:prstGeom>
          <a:solidFill>
            <a:srgbClr val="C8443C"/>
          </a:solidFill>
          <a:ln w="11430">
            <a:solidFill>
              <a:srgbClr val="C84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8618220" y="3662172"/>
            <a:ext cx="118872" cy="11887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8FB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8618220" y="4165091"/>
            <a:ext cx="118872" cy="11887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8FB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9404604" y="2153412"/>
            <a:ext cx="118872" cy="11887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8FB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9404604" y="2656332"/>
            <a:ext cx="118872" cy="11887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8FB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9404604" y="3159252"/>
            <a:ext cx="118872" cy="11887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8FB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9386315" y="3643884"/>
            <a:ext cx="155448" cy="155448"/>
          </a:xfrm>
          <a:prstGeom prst="ellipse">
            <a:avLst/>
          </a:prstGeom>
          <a:solidFill>
            <a:srgbClr val="C8443C"/>
          </a:solidFill>
          <a:ln w="11430">
            <a:solidFill>
              <a:srgbClr val="C84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9404604" y="4165091"/>
            <a:ext cx="118872" cy="11887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8FB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10190988" y="2153412"/>
            <a:ext cx="118872" cy="11887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8FB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10190988" y="2656332"/>
            <a:ext cx="118872" cy="11887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8FB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10190988" y="3159252"/>
            <a:ext cx="118872" cy="11887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8FB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10190988" y="3662172"/>
            <a:ext cx="118872" cy="11887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8FB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10172700" y="4146804"/>
            <a:ext cx="155448" cy="155448"/>
          </a:xfrm>
          <a:prstGeom prst="ellipse">
            <a:avLst/>
          </a:prstGeom>
          <a:solidFill>
            <a:srgbClr val="C8443C"/>
          </a:solidFill>
          <a:ln w="11430">
            <a:solidFill>
              <a:srgbClr val="C84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5532120" y="4425696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6B7885"/>
                </a:solidFill>
                <a:latin typeface="Segoe UI"/>
                <a:ea typeface="Microsoft YaHei"/>
                <a:cs typeface="Segoe UI"/>
              </a:rPr>
              <a:t>vision tokens  t = 1 … M</a:t>
            </a:r>
          </a:p>
        </p:txBody>
      </p:sp>
      <p:cxnSp>
        <p:nvCxnSpPr>
          <p:cNvPr id="111" name="Connector 110"/>
          <p:cNvCxnSpPr/>
          <p:nvPr/>
        </p:nvCxnSpPr>
        <p:spPr>
          <a:xfrm>
            <a:off x="10442448" y="2249424"/>
            <a:ext cx="329184" cy="0"/>
          </a:xfrm>
          <a:prstGeom prst="line">
            <a:avLst/>
          </a:prstGeom>
          <a:ln w="20320">
            <a:solidFill>
              <a:srgbClr val="C9D9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TextBox 111"/>
          <p:cNvSpPr txBox="1"/>
          <p:nvPr/>
        </p:nvSpPr>
        <p:spPr>
          <a:xfrm>
            <a:off x="10844784" y="2121408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6B7885"/>
                </a:solidFill>
                <a:latin typeface="Segoe UI"/>
                <a:ea typeface="Microsoft YaHei"/>
                <a:cs typeface="Segoe UI"/>
              </a:rPr>
              <a:t>可行路径</a:t>
            </a:r>
          </a:p>
        </p:txBody>
      </p:sp>
      <p:cxnSp>
        <p:nvCxnSpPr>
          <p:cNvPr id="113" name="Connector 112"/>
          <p:cNvCxnSpPr/>
          <p:nvPr/>
        </p:nvCxnSpPr>
        <p:spPr>
          <a:xfrm>
            <a:off x="10442448" y="2596896"/>
            <a:ext cx="329184" cy="0"/>
          </a:xfrm>
          <a:prstGeom prst="line">
            <a:avLst/>
          </a:prstGeom>
          <a:ln w="34925">
            <a:solidFill>
              <a:srgbClr val="C844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TextBox 113"/>
          <p:cNvSpPr txBox="1"/>
          <p:nvPr/>
        </p:nvSpPr>
        <p:spPr>
          <a:xfrm>
            <a:off x="10844784" y="2468880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C8443C"/>
                </a:solidFill>
                <a:latin typeface="Segoe UI"/>
                <a:ea typeface="Microsoft YaHei"/>
                <a:cs typeface="Segoe UI"/>
              </a:rPr>
              <a:t>最优路径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5532120" y="488289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8B84"/>
                </a:solidFill>
                <a:latin typeface="Segoe UI"/>
                <a:ea typeface="Microsoft YaHei"/>
                <a:cs typeface="Segoe UI"/>
              </a:rPr>
              <a:t>Segment merging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532120" y="5212080"/>
            <a:ext cx="365760" cy="365760"/>
          </a:xfrm>
          <a:prstGeom prst="rect">
            <a:avLst/>
          </a:prstGeom>
          <a:solidFill>
            <a:srgbClr val="E4E9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5989320" y="5212080"/>
            <a:ext cx="365760" cy="36576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6446520" y="5212080"/>
            <a:ext cx="365760" cy="36576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6903720" y="5212080"/>
            <a:ext cx="365760" cy="365760"/>
          </a:xfrm>
          <a:prstGeom prst="rect">
            <a:avLst/>
          </a:prstGeom>
          <a:solidFill>
            <a:srgbClr val="E4E9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7360920" y="5212080"/>
            <a:ext cx="365760" cy="36576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7818120" y="5212080"/>
            <a:ext cx="365760" cy="36576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8275320" y="5212080"/>
            <a:ext cx="365760" cy="365760"/>
          </a:xfrm>
          <a:prstGeom prst="rect">
            <a:avLst/>
          </a:prstGeom>
          <a:solidFill>
            <a:srgbClr val="E4E9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3" name="Connector 122"/>
          <p:cNvCxnSpPr/>
          <p:nvPr/>
        </p:nvCxnSpPr>
        <p:spPr>
          <a:xfrm>
            <a:off x="8842248" y="5394960"/>
            <a:ext cx="420624" cy="0"/>
          </a:xfrm>
          <a:prstGeom prst="line">
            <a:avLst/>
          </a:prstGeom>
          <a:ln w="20320">
            <a:solidFill>
              <a:srgbClr val="2E8B8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Oval 123"/>
          <p:cNvSpPr/>
          <p:nvPr/>
        </p:nvSpPr>
        <p:spPr>
          <a:xfrm>
            <a:off x="9336024" y="5138928"/>
            <a:ext cx="512064" cy="512064"/>
          </a:xfrm>
          <a:prstGeom prst="ellipse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9336024" y="5266944"/>
            <a:ext cx="51206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C1</a:t>
            </a:r>
          </a:p>
        </p:txBody>
      </p:sp>
      <p:sp>
        <p:nvSpPr>
          <p:cNvPr id="126" name="Oval 125"/>
          <p:cNvSpPr/>
          <p:nvPr/>
        </p:nvSpPr>
        <p:spPr>
          <a:xfrm>
            <a:off x="10012680" y="5138928"/>
            <a:ext cx="512064" cy="512064"/>
          </a:xfrm>
          <a:prstGeom prst="ellipse">
            <a:avLst/>
          </a:prstGeom>
          <a:solidFill>
            <a:srgbClr val="2E8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10012680" y="5266944"/>
            <a:ext cx="51206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C2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777240" y="5102352"/>
            <a:ext cx="39319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6B7885"/>
                </a:solidFill>
                <a:latin typeface="Segoe UI"/>
                <a:ea typeface="Microsoft YaHei"/>
                <a:cs typeface="Segoe UI"/>
              </a:rPr>
              <a:t>相邻保留 token 按概率加权</a:t>
            </a:r>
          </a:p>
          <a:p>
            <a:pPr algn="l">
              <a:lnSpc>
                <a:spcPct val="120000"/>
              </a:lnSpc>
            </a:pPr>
            <a:r>
              <a:rPr sz="1250" b="0">
                <a:solidFill>
                  <a:srgbClr val="6B7885"/>
                </a:solidFill>
                <a:latin typeface="Segoe UI"/>
                <a:ea typeface="Microsoft YaHei"/>
                <a:cs typeface="Segoe UI"/>
              </a:rPr>
              <a:t>合并为一个视觉概念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77240" y="6428232"/>
            <a:ext cx="981151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AAB4BE"/>
                </a:solidFill>
                <a:latin typeface="Segoe UI"/>
                <a:ea typeface="Microsoft YaHei"/>
                <a:cs typeface="Segoe UI"/>
              </a:rPr>
              <a:t>Paper Sections 3.3–3.4, Figure 6 and Appendix E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771632" y="6409944"/>
            <a:ext cx="6400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1">
                <a:solidFill>
                  <a:srgbClr val="AAB4BE"/>
                </a:solidFill>
                <a:latin typeface="Segoe UI"/>
                <a:ea typeface="Microsoft YaHei"/>
                <a:cs typeface="Segoe U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02336"/>
            <a:ext cx="1063447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spc="160">
                <a:solidFill>
                  <a:srgbClr val="1F6FB2"/>
                </a:solidFill>
                <a:latin typeface="Segoe UI"/>
                <a:ea typeface="Microsoft YaHei"/>
                <a:cs typeface="Segoe UI"/>
              </a:rPr>
              <a:t>结果 ·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94944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16212B"/>
                </a:solidFill>
                <a:latin typeface="Segoe UI"/>
                <a:ea typeface="Microsoft YaHei"/>
                <a:cs typeface="Segoe UI"/>
              </a:rPr>
              <a:t>计算量大幅下降，平均性能不降反升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77240" y="1335024"/>
            <a:ext cx="1051560" cy="0"/>
          </a:xfrm>
          <a:prstGeom prst="line">
            <a:avLst/>
          </a:prstGeom>
          <a:ln w="3810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664208"/>
            <a:ext cx="23774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6B7885"/>
                </a:solidFill>
                <a:latin typeface="Segoe UI"/>
                <a:ea typeface="Microsoft YaHei"/>
                <a:cs typeface="Segoe UI"/>
              </a:rPr>
              <a:t>FLOPs (T)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21207" y="1956816"/>
          <a:ext cx="4114800" cy="276148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4773168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>
                <a:solidFill>
                  <a:srgbClr val="16212B"/>
                </a:solidFill>
                <a:latin typeface="Segoe UI"/>
                <a:ea typeface="Microsoft YaHei"/>
                <a:cs typeface="Segoe UI"/>
              </a:rPr>
              <a:t>理论最高约 85% FLOPs reduction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138928" y="2011680"/>
            <a:ext cx="0" cy="2670048"/>
          </a:xfrm>
          <a:prstGeom prst="line">
            <a:avLst/>
          </a:prstGeom>
          <a:ln w="9525">
            <a:solidFill>
              <a:srgbClr val="DDE4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31536" y="1664208"/>
            <a:ext cx="38404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6B7885"/>
                </a:solidFill>
                <a:latin typeface="Segoe UI"/>
                <a:ea typeface="Microsoft YaHei"/>
                <a:cs typeface="Segoe UI"/>
              </a:rPr>
              <a:t>11-benchmark VQA average (%)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5212080" y="1956816"/>
          <a:ext cx="6199632" cy="2761488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31536" y="4773168"/>
            <a:ext cx="598017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>
                <a:solidFill>
                  <a:srgbClr val="16212B"/>
                </a:solidFill>
                <a:latin typeface="Segoe UI"/>
                <a:ea typeface="Microsoft YaHei"/>
                <a:cs typeface="Segoe UI"/>
              </a:rPr>
              <a:t>VCM 仅用 </a:t>
            </a:r>
            <a:r>
              <a:rPr sz="1250" b="1">
                <a:solidFill>
                  <a:srgbClr val="C8443C"/>
                </a:solidFill>
                <a:latin typeface="Segoe UI"/>
                <a:ea typeface="Microsoft YaHei"/>
                <a:cs typeface="Segoe UI"/>
              </a:rPr>
              <a:t>144</a:t>
            </a:r>
            <a:r>
              <a:rPr sz="1250" b="0">
                <a:solidFill>
                  <a:srgbClr val="16212B"/>
                </a:solidFill>
                <a:latin typeface="Segoe UI"/>
                <a:ea typeface="Microsoft YaHei"/>
                <a:cs typeface="Segoe UI"/>
              </a:rPr>
              <a:t> tokens，其余方法为 192 或 576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77240" y="5193792"/>
            <a:ext cx="3200399" cy="0"/>
          </a:xfrm>
          <a:prstGeom prst="line">
            <a:avLst/>
          </a:prstGeom>
          <a:ln w="9525">
            <a:solidFill>
              <a:srgbClr val="DDE4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77240" y="5303520"/>
            <a:ext cx="12344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C8443C"/>
                </a:solidFill>
                <a:latin typeface="Segoe UI"/>
                <a:ea typeface="Microsoft YaHei"/>
                <a:cs typeface="Segoe UI"/>
              </a:rPr>
              <a:t>+1.3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84248" y="5358384"/>
            <a:ext cx="19659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>
                <a:solidFill>
                  <a:srgbClr val="6B7885"/>
                </a:solidFill>
                <a:latin typeface="Segoe UI"/>
                <a:ea typeface="Microsoft YaHei"/>
                <a:cs typeface="Segoe UI"/>
              </a:rPr>
              <a:t>Avg. vs. LLaVA-1.5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416552" y="5193792"/>
            <a:ext cx="3200400" cy="0"/>
          </a:xfrm>
          <a:prstGeom prst="line">
            <a:avLst/>
          </a:prstGeom>
          <a:ln w="9525">
            <a:solidFill>
              <a:srgbClr val="DDE4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416552" y="5303520"/>
            <a:ext cx="12344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1F6FB2"/>
                </a:solidFill>
                <a:latin typeface="Segoe UI"/>
                <a:ea typeface="Microsoft YaHei"/>
                <a:cs typeface="Segoe UI"/>
              </a:rPr>
              <a:t>+5.7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23560" y="5358384"/>
            <a:ext cx="19659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>
                <a:solidFill>
                  <a:srgbClr val="6B7885"/>
                </a:solidFill>
                <a:latin typeface="Segoe UI"/>
                <a:ea typeface="Microsoft YaHei"/>
                <a:cs typeface="Segoe UI"/>
              </a:rPr>
              <a:t>SEED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055864" y="5193792"/>
            <a:ext cx="3200400" cy="0"/>
          </a:xfrm>
          <a:prstGeom prst="line">
            <a:avLst/>
          </a:prstGeom>
          <a:ln w="9525">
            <a:solidFill>
              <a:srgbClr val="DDE4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055864" y="5303520"/>
            <a:ext cx="12344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2E8B84"/>
                </a:solidFill>
                <a:latin typeface="Segoe UI"/>
                <a:ea typeface="Microsoft YaHei"/>
                <a:cs typeface="Segoe UI"/>
              </a:rPr>
              <a:t>+4.9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62872" y="5358384"/>
            <a:ext cx="19659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>
                <a:solidFill>
                  <a:srgbClr val="6B7885"/>
                </a:solidFill>
                <a:latin typeface="Segoe UI"/>
                <a:ea typeface="Microsoft YaHei"/>
                <a:cs typeface="Segoe UI"/>
              </a:rPr>
              <a:t>VizWiz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5779008"/>
            <a:ext cx="10634472" cy="512064"/>
          </a:xfrm>
          <a:prstGeom prst="roundRect">
            <a:avLst>
              <a:gd name="adj" fmla="val 10000"/>
            </a:avLst>
          </a:prstGeom>
          <a:solidFill>
            <a:srgbClr val="ED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5779008"/>
            <a:ext cx="50292" cy="512064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06424" y="5779008"/>
            <a:ext cx="9976104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50" b="1">
                <a:solidFill>
                  <a:srgbClr val="123A5F"/>
                </a:solidFill>
                <a:latin typeface="Segoe UI"/>
                <a:ea typeface="Microsoft YaHei"/>
                <a:cs typeface="Segoe UI"/>
              </a:rPr>
              <a:t>更少的 token 得到更高的平均分：学到的是表示力，而不只是压缩率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428232"/>
            <a:ext cx="981151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AAB4BE"/>
                </a:solidFill>
                <a:latin typeface="Segoe UI"/>
                <a:ea typeface="Microsoft YaHei"/>
                <a:cs typeface="Segoe UI"/>
              </a:rPr>
              <a:t>Paper Table 1, Table 10 and Appendix 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71632" y="6409944"/>
            <a:ext cx="6400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1">
                <a:solidFill>
                  <a:srgbClr val="AAB4BE"/>
                </a:solidFill>
                <a:latin typeface="Segoe UI"/>
                <a:ea typeface="Microsoft YaHei"/>
                <a:cs typeface="Segoe U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02336"/>
            <a:ext cx="1063447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spc="160">
                <a:solidFill>
                  <a:srgbClr val="1F6FB2"/>
                </a:solidFill>
                <a:latin typeface="Segoe UI"/>
                <a:ea typeface="Microsoft YaHei"/>
                <a:cs typeface="Segoe UI"/>
              </a:rPr>
              <a:t>结论 ·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94944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16212B"/>
                </a:solidFill>
                <a:latin typeface="Segoe UI"/>
                <a:ea typeface="Microsoft YaHei"/>
                <a:cs typeface="Segoe UI"/>
              </a:rPr>
              <a:t>从 token compression 到 vision concept modeling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77240" y="1335024"/>
            <a:ext cx="1051560" cy="0"/>
          </a:xfrm>
          <a:prstGeom prst="line">
            <a:avLst/>
          </a:prstGeom>
          <a:ln w="3810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777240" y="1755648"/>
            <a:ext cx="50292" cy="512064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4983" y="1792224"/>
            <a:ext cx="73152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1F6FB2"/>
                </a:solidFill>
                <a:latin typeface="Segoe UI"/>
                <a:ea typeface="Microsoft YaHei"/>
                <a:cs typeface="Segoe UI"/>
              </a:rPr>
              <a:t>贡献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11095" y="1700784"/>
            <a:ext cx="43891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6212B"/>
                </a:solidFill>
                <a:latin typeface="Segoe UI"/>
                <a:ea typeface="Microsoft YaHei"/>
                <a:cs typeface="Segoe UI"/>
              </a:rPr>
              <a:t>形式化 vision concept model: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6212B"/>
                </a:solidFill>
                <a:latin typeface="Segoe UI"/>
                <a:ea typeface="Microsoft YaHei"/>
                <a:cs typeface="Segoe UI"/>
              </a:rPr>
              <a:t>由指令决定概念数量与空间位置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2450592"/>
            <a:ext cx="5797296" cy="0"/>
          </a:xfrm>
          <a:prstGeom prst="line">
            <a:avLst/>
          </a:prstGeom>
          <a:ln w="9525">
            <a:solidFill>
              <a:srgbClr val="DDE4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777240" y="2688336"/>
            <a:ext cx="50292" cy="512064"/>
          </a:xfrm>
          <a:prstGeom prst="rect">
            <a:avLst/>
          </a:prstGeom>
          <a:solidFill>
            <a:srgbClr val="12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3" y="2724912"/>
            <a:ext cx="73152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123A5F"/>
                </a:solidFill>
                <a:latin typeface="Segoe UI"/>
                <a:ea typeface="Microsoft YaHei"/>
                <a:cs typeface="Segoe UI"/>
              </a:rPr>
              <a:t>方法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11095" y="2633472"/>
            <a:ext cx="43891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6212B"/>
                </a:solidFill>
                <a:latin typeface="Segoe UI"/>
                <a:ea typeface="Microsoft YaHei"/>
                <a:cs typeface="Segoe UI"/>
              </a:rPr>
              <a:t>语义对齐 + 文本先验长度估计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6212B"/>
                </a:solidFill>
                <a:latin typeface="Segoe UI"/>
                <a:ea typeface="Microsoft YaHei"/>
                <a:cs typeface="Segoe UI"/>
              </a:rPr>
              <a:t>+ forward–backward 对齐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77240" y="3383279"/>
            <a:ext cx="5797296" cy="0"/>
          </a:xfrm>
          <a:prstGeom prst="line">
            <a:avLst/>
          </a:prstGeom>
          <a:ln w="9525">
            <a:solidFill>
              <a:srgbClr val="DDE4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777240" y="3621024"/>
            <a:ext cx="50292" cy="512064"/>
          </a:xfrm>
          <a:prstGeom prst="rect">
            <a:avLst/>
          </a:prstGeom>
          <a:solidFill>
            <a:srgbClr val="2E8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14983" y="3657600"/>
            <a:ext cx="73152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8B84"/>
                </a:solidFill>
                <a:latin typeface="Segoe UI"/>
                <a:ea typeface="Microsoft YaHei"/>
                <a:cs typeface="Segoe UI"/>
              </a:rPr>
              <a:t>证据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11095" y="3566160"/>
            <a:ext cx="43891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6212B"/>
                </a:solidFill>
                <a:latin typeface="Segoe UI"/>
                <a:ea typeface="Microsoft YaHei"/>
                <a:cs typeface="Segoe UI"/>
              </a:rPr>
              <a:t>约 85% FLOPs reduction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6212B"/>
                </a:solidFill>
                <a:latin typeface="Segoe UI"/>
                <a:ea typeface="Microsoft YaHei"/>
                <a:cs typeface="Segoe UI"/>
              </a:rPr>
              <a:t>VQA 平均分反超 576-token baseline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77240" y="4315968"/>
            <a:ext cx="5797296" cy="0"/>
          </a:xfrm>
          <a:prstGeom prst="line">
            <a:avLst/>
          </a:prstGeom>
          <a:ln w="9525">
            <a:solidFill>
              <a:srgbClr val="DDE4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777240" y="4553712"/>
            <a:ext cx="50292" cy="512064"/>
          </a:xfrm>
          <a:prstGeom prst="rect">
            <a:avLst/>
          </a:prstGeom>
          <a:solidFill>
            <a:srgbClr val="C84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4983" y="4590288"/>
            <a:ext cx="73152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C8443C"/>
                </a:solidFill>
                <a:latin typeface="Segoe UI"/>
                <a:ea typeface="Microsoft YaHei"/>
                <a:cs typeface="Segoe UI"/>
              </a:rPr>
              <a:t>局限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11095" y="4498848"/>
            <a:ext cx="43891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6212B"/>
                </a:solidFill>
                <a:latin typeface="Segoe UI"/>
                <a:ea typeface="Microsoft YaHei"/>
                <a:cs typeface="Segoe UI"/>
              </a:rPr>
              <a:t>关键词偏差、长度估计偏粗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6212B"/>
                </a:solidFill>
                <a:latin typeface="Segoe UI"/>
                <a:ea typeface="Microsoft YaHei"/>
                <a:cs typeface="Segoe UI"/>
              </a:rPr>
              <a:t>概念可解释性缺少直接度量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55664" y="1609344"/>
            <a:ext cx="4956048" cy="3639312"/>
          </a:xfrm>
          <a:prstGeom prst="roundRect">
            <a:avLst>
              <a:gd name="adj" fmla="val 4000"/>
            </a:avLst>
          </a:prstGeom>
          <a:solidFill>
            <a:srgbClr val="ED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48272" y="1810512"/>
            <a:ext cx="43708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1">
                <a:solidFill>
                  <a:srgbClr val="123A5F"/>
                </a:solidFill>
                <a:latin typeface="Segoe UI"/>
                <a:ea typeface="Microsoft YaHei"/>
                <a:cs typeface="Segoe UI"/>
              </a:rPr>
              <a:t>K-Means on CLIP ViT dense features</a:t>
            </a:r>
          </a:p>
        </p:txBody>
      </p:sp>
      <p:pic>
        <p:nvPicPr>
          <p:cNvPr id="22" name="Picture 21" descr="strip_kmeans_tripl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3136" y="2212848"/>
            <a:ext cx="4261104" cy="1565827"/>
          </a:xfrm>
          <a:prstGeom prst="rect">
            <a:avLst/>
          </a:prstGeom>
          <a:effectLst/>
        </p:spPr>
      </p:pic>
      <p:sp>
        <p:nvSpPr>
          <p:cNvPr id="23" name="TextBox 22"/>
          <p:cNvSpPr txBox="1"/>
          <p:nvPr/>
        </p:nvSpPr>
        <p:spPr>
          <a:xfrm>
            <a:off x="6839712" y="3858768"/>
            <a:ext cx="135331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rgbClr val="6B7885"/>
                </a:solidFill>
                <a:latin typeface="Segoe UI"/>
                <a:ea typeface="Microsoft YaHei"/>
                <a:cs typeface="Segoe UI"/>
              </a:rPr>
              <a:t>Image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66176" y="3858768"/>
            <a:ext cx="135331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rgbClr val="6B7885"/>
                </a:solidFill>
                <a:latin typeface="Segoe UI"/>
                <a:ea typeface="Microsoft YaHei"/>
                <a:cs typeface="Segoe UI"/>
              </a:rPr>
              <a:t>w/o VCM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92640" y="3858768"/>
            <a:ext cx="135331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1">
                <a:solidFill>
                  <a:srgbClr val="123A5F"/>
                </a:solidFill>
                <a:latin typeface="Segoe UI"/>
                <a:ea typeface="Microsoft YaHei"/>
                <a:cs typeface="Segoe UI"/>
              </a:rPr>
              <a:t>w/ VCM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803136" y="4224528"/>
            <a:ext cx="4261104" cy="0"/>
          </a:xfrm>
          <a:prstGeom prst="line">
            <a:avLst/>
          </a:prstGeom>
          <a:ln w="9525">
            <a:solidFill>
              <a:srgbClr val="D5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803136" y="4352544"/>
            <a:ext cx="426110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6212B"/>
                </a:solidFill>
                <a:latin typeface="Segoe UI"/>
                <a:ea typeface="Microsoft YaHei"/>
                <a:cs typeface="Segoe UI"/>
              </a:rPr>
              <a:t>稠密特征聚类更贴合物体边界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03136" y="4700016"/>
            <a:ext cx="426110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2E8B84"/>
                </a:solidFill>
                <a:latin typeface="Segoe UI"/>
                <a:ea typeface="Microsoft YaHei"/>
                <a:cs typeface="Segoe UI"/>
              </a:rPr>
              <a:t>效率提升与细粒度感知增强可以同时发生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7240" y="5779008"/>
            <a:ext cx="10634472" cy="512064"/>
          </a:xfrm>
          <a:prstGeom prst="roundRect">
            <a:avLst>
              <a:gd name="adj" fmla="val 10000"/>
            </a:avLst>
          </a:prstGeom>
          <a:solidFill>
            <a:srgbClr val="12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06424" y="5779008"/>
            <a:ext cx="9976104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8FBDE0"/>
                </a:solidFill>
                <a:latin typeface="Segoe UI"/>
                <a:ea typeface="Microsoft YaHei"/>
                <a:cs typeface="Segoe UI"/>
              </a:rPr>
              <a:t>Take-home:  </a:t>
            </a:r>
            <a:r>
              <a:rPr sz="1600" b="1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不要看完再回答，而是按问题选择该看的概念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6428232"/>
            <a:ext cx="981151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AAB4BE"/>
                </a:solidFill>
                <a:latin typeface="Segoe UI"/>
                <a:ea typeface="Microsoft YaHei"/>
                <a:cs typeface="Segoe UI"/>
              </a:rPr>
              <a:t>Paper Figure 8, conclusion and limitations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71632" y="6409944"/>
            <a:ext cx="6400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1">
                <a:solidFill>
                  <a:srgbClr val="AAB4BE"/>
                </a:solidFill>
                <a:latin typeface="Segoe UI"/>
                <a:ea typeface="Microsoft YaHei"/>
                <a:cs typeface="Segoe UI"/>
              </a:rPr>
              <a:t>07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VCM 论文汇报</dc:title>
  <dc:subject/>
  <dc:creator>Generated from Luo et al. (2025)</dc:creator>
  <cp:keywords/>
  <dc:description>Native editable shapes, connectors, text and charts; two paper figures are placed as photographic evidence.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