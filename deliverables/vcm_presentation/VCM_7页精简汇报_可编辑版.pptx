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FLOPs (T)</c:v>
                </c:pt>
              </c:strCache>
            </c:strRef>
          </c:tx>
          <c:spPr>
            <a:solidFill>
              <a:srgbClr val="2770B1"/>
            </a:solidFill>
            <a:ln>
              <a:solidFill>
                <a:srgbClr val="2770B1"/>
              </a:solidFill>
            </a:ln>
          </c:spPr>
          <c:cat>
            <c:strRef>
              <c:f>Sheet1!$A$2:$A$4</c:f>
              <c:strCache>
                <c:ptCount val="3"/>
                <c:pt idx="0">
                  <c:v>LLaVA
576</c:v>
                </c:pt>
                <c:pt idx="1">
                  <c:v>VCM
128</c:v>
                </c:pt>
                <c:pt idx="2">
                  <c:v>VCM
64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4.62</c:v>
                </c:pt>
                <c:pt idx="1">
                  <c:v>1.71</c:v>
                </c:pt>
                <c:pt idx="2">
                  <c:v>1.24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FLOPs (T)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VQA Avg.</c:v>
                </c:pt>
              </c:strCache>
            </c:strRef>
          </c:tx>
          <c:spPr>
            <a:solidFill>
              <a:srgbClr val="EE7733"/>
            </a:solidFill>
            <a:ln>
              <a:solidFill>
                <a:srgbClr val="EE7733"/>
              </a:solidFill>
            </a:ln>
          </c:spPr>
          <c:dPt>
            <c:idx val="5"/>
            <c:spPr>
              <a:solidFill>
                <a:srgbClr val="CE2636"/>
              </a:solidFill>
              <a:ln>
                <a:solidFill>
                  <a:srgbClr val="CE2636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FastV</c:v>
                </c:pt>
                <c:pt idx="1">
                  <c:v>PDrop</c:v>
                </c:pt>
                <c:pt idx="2">
                  <c:v>Sparse</c:v>
                </c:pt>
                <c:pt idx="3">
                  <c:v>VisionZip</c:v>
                </c:pt>
                <c:pt idx="4">
                  <c:v>LLaVA</c:v>
                </c:pt>
                <c:pt idx="5">
                  <c:v>VCM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53.1</c:v>
                </c:pt>
                <c:pt idx="1">
                  <c:v>57.8</c:v>
                </c:pt>
                <c:pt idx="2">
                  <c:v>57.9</c:v>
                </c:pt>
                <c:pt idx="3">
                  <c:v>59.1</c:v>
                </c:pt>
                <c:pt idx="4">
                  <c:v>59.5</c:v>
                </c:pt>
                <c:pt idx="5">
                  <c:v>60.8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50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46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1097280"/>
            <a:ext cx="1828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Microsoft YaHei"/>
              </a:rPr>
              <a:t>VCM: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719072"/>
            <a:ext cx="9692640" cy="1353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Microsoft YaHei"/>
              </a:rPr>
              <a:t>Vision Concept Modeling with
Adaptive Vision Token Compression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20240" y="3401568"/>
            <a:ext cx="8302752" cy="0"/>
          </a:xfrm>
          <a:prstGeom prst="line">
            <a:avLst/>
          </a:prstGeom>
          <a:ln w="17780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17320" y="3767328"/>
            <a:ext cx="93726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From token-level redundancy to instruction-conditioned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864608"/>
            <a:ext cx="4526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3CB4C4"/>
                </a:solidFill>
                <a:latin typeface="Microsoft YaHei"/>
              </a:rPr>
              <a:t>Luo et al. · arXiv:2504.19627v2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Vision tokens are not vision concepts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aper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3000"/>
            <a:ext cx="4846320" cy="176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370332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D6770"/>
                </a:solidFill>
                <a:latin typeface="Microsoft YaHei"/>
              </a:rPr>
              <a:t>Current LVLM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41732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2783" y="141732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56248" y="141732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9712" y="141732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23176" y="141732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41732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0104" y="141732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7" y="141732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6248" y="169164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9712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23176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69164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90104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7" y="169164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96596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3" y="196596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6248" y="196596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39712" y="196596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23176" y="196596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196596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90104" y="196596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73567" y="196596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224028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3" y="224028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56248" y="224028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9712" y="224028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23176" y="224028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06640" y="224028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90104" y="224028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3567" y="224028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783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56248" y="251460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39712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23176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06640" y="2514600"/>
            <a:ext cx="246888" cy="228600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90104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73567" y="2514600"/>
            <a:ext cx="246888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4768" y="2862072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all image patches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75320" y="2084831"/>
            <a:ext cx="612648" cy="0"/>
          </a:xfrm>
          <a:prstGeom prst="line">
            <a:avLst/>
          </a:prstGeom>
          <a:ln w="27940">
            <a:solidFill>
              <a:srgbClr val="CE26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15984" y="1261872"/>
            <a:ext cx="2423160" cy="1645920"/>
          </a:xfrm>
          <a:prstGeom prst="roundRect">
            <a:avLst/>
          </a:prstGeom>
          <a:solidFill>
            <a:srgbClr val="F4F9FD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1554480"/>
            <a:ext cx="11430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07467C"/>
                </a:solidFill>
                <a:latin typeface="Microsoft YaHei"/>
              </a:rPr>
              <a:t>LLM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4896" y="2103120"/>
            <a:ext cx="1508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attention cost
∝ sequence length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269480" y="3319272"/>
            <a:ext cx="0" cy="475488"/>
          </a:xfrm>
          <a:prstGeom prst="line">
            <a:avLst/>
          </a:prstGeom>
          <a:ln w="2540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06640" y="3401568"/>
            <a:ext cx="10789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9988"/>
                </a:solidFill>
                <a:latin typeface="Microsoft YaHei"/>
              </a:rPr>
              <a:t>instruction</a:t>
            </a:r>
          </a:p>
        </p:txBody>
      </p:sp>
      <p:sp>
        <p:nvSpPr>
          <p:cNvPr id="53" name="Oval 52"/>
          <p:cNvSpPr/>
          <p:nvPr/>
        </p:nvSpPr>
        <p:spPr>
          <a:xfrm>
            <a:off x="6035040" y="4069080"/>
            <a:ext cx="758952" cy="758952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71616" y="4297680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object</a:t>
            </a:r>
          </a:p>
        </p:txBody>
      </p:sp>
      <p:sp>
        <p:nvSpPr>
          <p:cNvPr id="55" name="Oval 54"/>
          <p:cNvSpPr/>
          <p:nvPr/>
        </p:nvSpPr>
        <p:spPr>
          <a:xfrm>
            <a:off x="7269479" y="4069080"/>
            <a:ext cx="758952" cy="758952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06056" y="4297680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attribute</a:t>
            </a:r>
          </a:p>
        </p:txBody>
      </p:sp>
      <p:sp>
        <p:nvSpPr>
          <p:cNvPr id="57" name="Oval 56"/>
          <p:cNvSpPr/>
          <p:nvPr/>
        </p:nvSpPr>
        <p:spPr>
          <a:xfrm>
            <a:off x="8503920" y="4069080"/>
            <a:ext cx="758952" cy="75895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0496" y="4297680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location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646920" y="4434840"/>
            <a:ext cx="685800" cy="0"/>
          </a:xfrm>
          <a:prstGeom prst="line">
            <a:avLst/>
          </a:prstGeom>
          <a:ln w="2794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378440" y="4242816"/>
            <a:ext cx="9144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09988"/>
                </a:solidFill>
                <a:latin typeface="Microsoft YaHei"/>
              </a:rPr>
              <a:t>16 tokens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Vision Concept Model = 根据任务动态决定概念数量，并保留对应空间位置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Figure 1; right-side schematic is editable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Text prior reveals the required visual budget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1170432"/>
            <a:ext cx="3246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E2328"/>
                </a:solidFill>
                <a:latin typeface="Microsoft YaHei"/>
              </a:rPr>
              <a:t>Response keywords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3310128"/>
            <a:ext cx="2487168" cy="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97280" y="1664208"/>
            <a:ext cx="0" cy="164592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344168" y="2926079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978912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4792" y="2702559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75104" y="2755392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85416" y="2479039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95728" y="2531872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06040" y="2255519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16352" y="2308352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6664" y="2031999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36976" y="2084831"/>
            <a:ext cx="91440" cy="91440"/>
          </a:xfrm>
          <a:prstGeom prst="ellipse">
            <a:avLst/>
          </a:prstGeom>
          <a:solidFill>
            <a:srgbClr val="2770B1"/>
          </a:solidFill>
          <a:ln w="381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316736" y="1783080"/>
            <a:ext cx="2066544" cy="1216152"/>
          </a:xfrm>
          <a:prstGeom prst="line">
            <a:avLst/>
          </a:prstGeom>
          <a:ln w="254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33856" y="3493008"/>
            <a:ext cx="23957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2770B1"/>
                </a:solidFill>
                <a:latin typeface="Microsoft YaHei"/>
              </a:rPr>
              <a:t>positive 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1170432"/>
            <a:ext cx="3246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E2328"/>
                </a:solidFill>
                <a:latin typeface="Microsoft YaHei"/>
              </a:rPr>
              <a:t>Instruction keywords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3310128"/>
            <a:ext cx="2487167" cy="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864608" y="1664208"/>
            <a:ext cx="0" cy="164592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111496" y="1755648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1808" y="2032000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32120" y="1979168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42432" y="2255520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52744" y="2202688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63056" y="2479040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73368" y="2426208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2702560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93992" y="2649728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04304" y="2926080"/>
            <a:ext cx="91440" cy="91440"/>
          </a:xfrm>
          <a:prstGeom prst="ellipse">
            <a:avLst/>
          </a:prstGeom>
          <a:solidFill>
            <a:srgbClr val="EE7733"/>
          </a:solidFill>
          <a:ln w="381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084064" y="1783080"/>
            <a:ext cx="2066544" cy="1234440"/>
          </a:xfrm>
          <a:prstGeom prst="line">
            <a:avLst/>
          </a:prstGeom>
          <a:ln w="2540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01183" y="3493008"/>
            <a:ext cx="23957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EE7733"/>
                </a:solidFill>
                <a:latin typeface="Microsoft YaHei"/>
              </a:rPr>
              <a:t>negative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4" y="1170432"/>
            <a:ext cx="3246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E2328"/>
                </a:solidFill>
                <a:latin typeface="Microsoft YaHei"/>
              </a:rPr>
              <a:t>Response − Instruction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31936" y="3310128"/>
            <a:ext cx="2487168" cy="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31936" y="1664208"/>
            <a:ext cx="0" cy="1645920"/>
          </a:xfrm>
          <a:prstGeom prst="line">
            <a:avLst/>
          </a:prstGeom>
          <a:ln w="1016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878824" y="1755648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89136" y="2032000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99448" y="1979168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09760" y="2255520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0072" y="2202688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30384" y="2479040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40696" y="2426208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51008" y="2702560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61320" y="2649728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71632" y="2926080"/>
            <a:ext cx="91440" cy="91440"/>
          </a:xfrm>
          <a:prstGeom prst="ellipse">
            <a:avLst/>
          </a:prstGeom>
          <a:solidFill>
            <a:srgbClr val="009988"/>
          </a:solidFill>
          <a:ln w="381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851392" y="1783080"/>
            <a:ext cx="2066544" cy="1234440"/>
          </a:xfrm>
          <a:prstGeom prst="line">
            <a:avLst/>
          </a:prstGeom>
          <a:ln w="2540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68512" y="3493008"/>
            <a:ext cx="23957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09988"/>
                </a:solidFill>
                <a:latin typeface="Microsoft YaHei"/>
              </a:rPr>
              <a:t>stable negative prior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4151376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770B1"/>
                </a:solidFill>
                <a:latin typeface="Microsoft YaHei"/>
              </a:rPr>
              <a:t>coarse supervision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880360" y="4297680"/>
            <a:ext cx="1005840" cy="0"/>
          </a:xfrm>
          <a:prstGeom prst="line">
            <a:avLst/>
          </a:prstGeom>
          <a:ln w="22860">
            <a:solidFill>
              <a:srgbClr val="2770B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041648" y="4151376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E7733"/>
                </a:solidFill>
                <a:latin typeface="Microsoft YaHei"/>
              </a:rPr>
              <a:t>keyword difference Nₖₑᵧ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82512" y="4297680"/>
            <a:ext cx="1005840" cy="0"/>
          </a:xfrm>
          <a:prstGeom prst="line">
            <a:avLst/>
          </a:prstGeom>
          <a:ln w="22860">
            <a:solidFill>
              <a:srgbClr val="EE77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43800" y="4151376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9988"/>
                </a:solidFill>
                <a:latin typeface="Microsoft YaHei"/>
              </a:rPr>
              <a:t>target concept length 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02952" y="4297680"/>
            <a:ext cx="566928" cy="0"/>
          </a:xfrm>
          <a:prstGeom prst="line">
            <a:avLst/>
          </a:prstGeom>
          <a:ln w="2286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497312" y="4151376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7467C"/>
                </a:solidFill>
                <a:latin typeface="Microsoft YaHei"/>
              </a:rPr>
              <a:t>self-supervision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64208" y="4791456"/>
            <a:ext cx="8851392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74519" y="4882896"/>
            <a:ext cx="841248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1E2328"/>
                </a:solidFill>
                <a:latin typeface="Microsoft YaHei"/>
              </a:rPr>
              <a:t>无需 concept annotations：</a:t>
            </a:r>
            <a:r>
              <a:rPr sz="1500" b="1">
                <a:solidFill>
                  <a:srgbClr val="CE2636"/>
                </a:solidFill>
                <a:latin typeface="Microsoft YaHei"/>
              </a:rPr>
              <a:t>文本先验估计“保留多少”</a:t>
            </a:r>
            <a:r>
              <a:rPr sz="1500" b="1">
                <a:solidFill>
                  <a:srgbClr val="07467C"/>
                </a:solidFill>
                <a:latin typeface="Microsoft YaHei"/>
              </a:rPr>
              <a:t>，动态规划再学习“保留哪里”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The key signal is not a fixed pruning ratio, but a sample-specific visual budget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Figure 2 and Section 3.1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VCM: learn semantics first, then learn variable-length concepts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58368" y="1307592"/>
            <a:ext cx="713232" cy="7132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3882" y="1478767"/>
            <a:ext cx="442203" cy="342351"/>
          </a:xfrm>
          <a:prstGeom prst="rect">
            <a:avLst/>
          </a:prstGeom>
          <a:solidFill>
            <a:srgbClr val="2770B1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4910" y="1528693"/>
            <a:ext cx="71323" cy="71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865205" y="1614281"/>
            <a:ext cx="256763" cy="17830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770B1"/>
                </a:solidFill>
                <a:latin typeface="Microsoft YaHei"/>
              </a:rPr>
              <a:t>Visual input Xⱽ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542032"/>
            <a:ext cx="129844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688336"/>
            <a:ext cx="1005840" cy="146304"/>
          </a:xfrm>
          <a:prstGeom prst="rect">
            <a:avLst/>
          </a:prstGeom>
          <a:solidFill>
            <a:srgbClr val="E0E5E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88336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0">
                <a:solidFill>
                  <a:srgbClr val="5D6770"/>
                </a:solidFill>
                <a:latin typeface="Microsoft YaHei"/>
              </a:rPr>
              <a:t>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862072"/>
            <a:ext cx="1005840" cy="146304"/>
          </a:xfrm>
          <a:prstGeom prst="rect">
            <a:avLst/>
          </a:prstGeom>
          <a:solidFill>
            <a:srgbClr val="E0E5E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0">
                <a:solidFill>
                  <a:srgbClr val="5D6770"/>
                </a:solidFill>
                <a:latin typeface="Microsoft YaHei"/>
              </a:rPr>
              <a:t>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035808"/>
            <a:ext cx="1005840" cy="146304"/>
          </a:xfrm>
          <a:prstGeom prst="rect">
            <a:avLst/>
          </a:prstGeom>
          <a:solidFill>
            <a:srgbClr val="E0E5E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35808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0">
                <a:solidFill>
                  <a:srgbClr val="5D6770"/>
                </a:solidFill>
                <a:latin typeface="Microsoft YaHei"/>
              </a:rPr>
              <a:t>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209544"/>
            <a:ext cx="1005840" cy="146304"/>
          </a:xfrm>
          <a:prstGeom prst="rect">
            <a:avLst/>
          </a:prstGeom>
          <a:solidFill>
            <a:srgbClr val="CE2636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9544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person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383280"/>
            <a:ext cx="1005840" cy="146304"/>
          </a:xfrm>
          <a:prstGeom prst="rect">
            <a:avLst/>
          </a:prstGeom>
          <a:solidFill>
            <a:srgbClr val="E0E5E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0">
                <a:solidFill>
                  <a:srgbClr val="5D6770"/>
                </a:solidFill>
                <a:latin typeface="Microsoft YaHei"/>
              </a:rPr>
              <a:t>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557015"/>
            <a:ext cx="1005840" cy="146304"/>
          </a:xfrm>
          <a:prstGeom prst="rect">
            <a:avLst/>
          </a:prstGeom>
          <a:solidFill>
            <a:srgbClr val="CE2636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57015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yellow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730752"/>
            <a:ext cx="1005840" cy="146304"/>
          </a:xfrm>
          <a:prstGeom prst="rect">
            <a:avLst/>
          </a:prstGeom>
          <a:solidFill>
            <a:srgbClr val="E0E5EA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0752"/>
            <a:ext cx="96926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00" b="0">
                <a:solidFill>
                  <a:srgbClr val="5D6770"/>
                </a:solidFill>
                <a:latin typeface="Microsoft YaHei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51960"/>
            <a:ext cx="11155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EE7733"/>
                </a:solidFill>
                <a:latin typeface="Microsoft YaHei"/>
              </a:rPr>
              <a:t>Instruction Xᴵ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1207008"/>
            <a:ext cx="2788920" cy="3511296"/>
          </a:xfrm>
          <a:prstGeom prst="roundRect">
            <a:avLst/>
          </a:prstGeom>
          <a:solidFill>
            <a:srgbClr val="F4F9FD"/>
          </a:solidFill>
          <a:ln w="889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4288" y="1399032"/>
            <a:ext cx="22860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A  Semantic alignment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1975104"/>
            <a:ext cx="9326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4872" y="2066544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2770B1"/>
                </a:solidFill>
                <a:latin typeface="Microsoft YaHei"/>
              </a:rPr>
              <a:t>Vision
Encoder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1975104"/>
            <a:ext cx="9326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066544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EE7733"/>
                </a:solidFill>
                <a:latin typeface="Microsoft YaHei"/>
              </a:rPr>
              <a:t>Keyword
Selector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3127248"/>
            <a:ext cx="9326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04872" y="3218688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2770B1"/>
                </a:solidFill>
                <a:latin typeface="Microsoft YaHei"/>
              </a:rPr>
              <a:t>Global
Vision Gⱽ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3008" y="3127248"/>
            <a:ext cx="9326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3218688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EE7733"/>
                </a:solidFill>
                <a:latin typeface="Microsoft YaHei"/>
              </a:rPr>
              <a:t>Global
Text Gᵀ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98064" y="2560320"/>
            <a:ext cx="0" cy="512064"/>
          </a:xfrm>
          <a:prstGeom prst="line">
            <a:avLst/>
          </a:prstGeom>
          <a:ln w="20320">
            <a:solidFill>
              <a:srgbClr val="2770B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59352" y="2560320"/>
            <a:ext cx="0" cy="512064"/>
          </a:xfrm>
          <a:prstGeom prst="line">
            <a:avLst/>
          </a:prstGeom>
          <a:ln w="20320">
            <a:solidFill>
              <a:srgbClr val="EE77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73552" y="3419856"/>
            <a:ext cx="173736" cy="0"/>
          </a:xfrm>
          <a:prstGeom prst="line">
            <a:avLst/>
          </a:prstGeom>
          <a:ln w="19050">
            <a:solidFill>
              <a:srgbClr val="CE26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127248" y="3968496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CE2636"/>
                </a:solidFill>
                <a:latin typeface="Microsoft YaHei"/>
              </a:rPr>
              <a:t>Lₛₐ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02352" y="1207008"/>
            <a:ext cx="2395728" cy="3511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1399032"/>
            <a:ext cx="19933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B  Keyword selection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21808" y="2057400"/>
            <a:ext cx="402336" cy="256032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808" y="2057400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Whe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88152" y="2057400"/>
            <a:ext cx="402336" cy="256032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88152" y="2057400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2057400"/>
            <a:ext cx="402336" cy="256032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54496" y="2057400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the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2057400"/>
            <a:ext cx="402336" cy="256032"/>
          </a:xfrm>
          <a:prstGeom prst="rect">
            <a:avLst/>
          </a:prstGeom>
          <a:solidFill>
            <a:srgbClr val="CE263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2057400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per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21808" y="2441448"/>
            <a:ext cx="402336" cy="256032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21808" y="2441448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88152" y="2441448"/>
            <a:ext cx="402336" cy="256032"/>
          </a:xfrm>
          <a:prstGeom prst="rect">
            <a:avLst/>
          </a:prstGeom>
          <a:solidFill>
            <a:srgbClr val="CE263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88152" y="2441448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yel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4496" y="2441448"/>
            <a:ext cx="402336" cy="256032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2441448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2962656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E7733"/>
                </a:solidFill>
                <a:latin typeface="Microsoft YaHei"/>
              </a:rPr>
              <a:t>K = Softmax(·)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3374136"/>
            <a:ext cx="1444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CE2636"/>
                </a:solidFill>
                <a:latin typeface="Microsoft YaHei"/>
              </a:rPr>
              <a:t>K &gt; E(K)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22392" y="3913632"/>
            <a:ext cx="17647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E2636"/>
                </a:solidFill>
                <a:latin typeface="Microsoft YaHei"/>
              </a:rPr>
              <a:t>person · yellow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54112" y="1207008"/>
            <a:ext cx="3639312" cy="3511296"/>
          </a:xfrm>
          <a:prstGeom prst="roundRect">
            <a:avLst/>
          </a:prstGeom>
          <a:solidFill>
            <a:srgbClr val="F4F9FD"/>
          </a:solidFill>
          <a:ln w="889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19288" y="1399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C  Vision concept modeling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7415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9419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1423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3427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5431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7435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94392" y="1975104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74152" y="2258568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94192" y="2258568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14232" y="2258568"/>
            <a:ext cx="265176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34272" y="2258568"/>
            <a:ext cx="265176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54312" y="2258568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74352" y="2258568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994392" y="2258568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74152" y="2542032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94192" y="2542032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714232" y="2542032"/>
            <a:ext cx="265176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34272" y="2542032"/>
            <a:ext cx="265176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54312" y="2542032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674352" y="2542032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94392" y="2542032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7415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9419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1423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3427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54312" y="2825496"/>
            <a:ext cx="265176" cy="228600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67435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94392" y="2825496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7415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9419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1423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03427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5431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7435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94392" y="3108960"/>
            <a:ext cx="265176" cy="228600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10442448" y="2633472"/>
            <a:ext cx="484632" cy="0"/>
          </a:xfrm>
          <a:prstGeom prst="line">
            <a:avLst/>
          </a:prstGeom>
          <a:ln w="2540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10725912" y="3218688"/>
            <a:ext cx="502920" cy="502920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17352" y="33558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Hᵥᶜ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53144" y="3986784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09988"/>
                </a:solidFill>
                <a:latin typeface="Microsoft YaHei"/>
              </a:rPr>
              <a:t>Lᵥ꜀ₘ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792224" y="1874519"/>
            <a:ext cx="219456" cy="365761"/>
          </a:xfrm>
          <a:prstGeom prst="line">
            <a:avLst/>
          </a:prstGeom>
          <a:ln w="17780">
            <a:solidFill>
              <a:srgbClr val="2770B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792224" y="2926080"/>
            <a:ext cx="219456" cy="411480"/>
          </a:xfrm>
          <a:prstGeom prst="line">
            <a:avLst/>
          </a:prstGeom>
          <a:ln w="17780">
            <a:solidFill>
              <a:srgbClr val="EE77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864608" y="2889504"/>
            <a:ext cx="192024" cy="0"/>
          </a:xfrm>
          <a:prstGeom prst="line">
            <a:avLst/>
          </a:prstGeom>
          <a:ln w="17780">
            <a:solidFill>
              <a:srgbClr val="5D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525512" y="2889504"/>
            <a:ext cx="182880" cy="0"/>
          </a:xfrm>
          <a:prstGeom prst="line">
            <a:avLst/>
          </a:prstGeom>
          <a:ln w="17780">
            <a:solidFill>
              <a:srgbClr val="5D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2212848" y="4965192"/>
            <a:ext cx="7772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95728" y="5047488"/>
            <a:ext cx="74066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L = ⌊M·S·(1−Norm(Nₖₑᵧ))⌋     |     L = Lₙₜₚ + ε(r)·Lᵥ꜀ₘ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Coarse text supervision → adaptive visual concepts → efficient LLM inference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Editable reconstruction of Paper Figure 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Forward–Backward turns unknown positions into a learnable alignment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133856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Microsoft YaHei"/>
              </a:rPr>
              <a:t>Target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3749039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7467C"/>
                </a:solidFill>
                <a:latin typeface="Microsoft YaHei"/>
              </a:rPr>
              <a:t>L = ⌊M·S·(1−Norm(Nₖₑᵧ))⌋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627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9988"/>
                </a:solidFill>
                <a:latin typeface="Microsoft YaHei"/>
              </a:rPr>
              <a:t>Extended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23744"/>
            <a:ext cx="2834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009988"/>
                </a:solidFill>
                <a:latin typeface="Microsoft YaHei"/>
              </a:rPr>
              <a:t>∅  ★  ∅  ★  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73552"/>
            <a:ext cx="3611880" cy="960120"/>
          </a:xfrm>
          <a:prstGeom prst="roundRect">
            <a:avLst/>
          </a:prstGeom>
          <a:solidFill>
            <a:srgbClr val="F4F9FD"/>
          </a:solidFill>
          <a:ln w="889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456432"/>
            <a:ext cx="31821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7467C"/>
                </a:solidFill>
                <a:latin typeface="Microsoft YaHei"/>
              </a:rPr>
              <a:t>p(Zᵥ|Yᵥ) = Σₗ α(t,l)β(t,l)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22191"/>
            <a:ext cx="27614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CE2636"/>
                </a:solidFill>
                <a:latin typeface="Microsoft YaHei"/>
              </a:rPr>
              <a:t>Lᵥ꜀ₘ = −log p(Zᵥ|Yᵥ)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115568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Microsoft YaHei"/>
              </a:rPr>
              <a:t>All possible alignments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091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1091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1091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1091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1091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1091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1091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1091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1091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1383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1383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1383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1383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1383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1383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1383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1383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1383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1675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1675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1675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1675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1675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1675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1675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1675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1675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1967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1967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1967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51967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1967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1967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1967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1967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1967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2259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2259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2259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02259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02259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2259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02259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02259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2259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2551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2551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2551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2551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2551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52551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2551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52551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52551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28432" y="1664208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028432" y="1664208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28432" y="2093976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028432" y="2093976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28432" y="2523744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28432" y="2523744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28432" y="2953512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028432" y="2953512"/>
            <a:ext cx="502920" cy="429768"/>
          </a:xfrm>
          <a:prstGeom prst="line">
            <a:avLst/>
          </a:prstGeom>
          <a:ln w="5715">
            <a:solidFill>
              <a:srgbClr val="3C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028432" y="3383280"/>
            <a:ext cx="502920" cy="0"/>
          </a:xfrm>
          <a:prstGeom prst="line">
            <a:avLst/>
          </a:prstGeom>
          <a:ln w="6985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010912" y="1664208"/>
            <a:ext cx="502920" cy="0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513832" y="1664208"/>
            <a:ext cx="502920" cy="429768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016752" y="2093976"/>
            <a:ext cx="502920" cy="0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519672" y="2093976"/>
            <a:ext cx="502920" cy="429768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022592" y="2523744"/>
            <a:ext cx="502920" cy="429768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25512" y="2953512"/>
            <a:ext cx="502920" cy="0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28432" y="2953512"/>
            <a:ext cx="502920" cy="429768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4946904" y="1600200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94690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4690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94690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94690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449824" y="1600200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44982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4982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4982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4982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5274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952744" y="2029968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5274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5274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95274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45566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55664" y="2029968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45566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45566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5566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95858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95858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958584" y="2459736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95858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95858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150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150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150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1504" y="2889504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150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96442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96442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96442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964424" y="2889504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964424" y="3319272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67344" y="1600200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467344" y="20299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467344" y="2459736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467344" y="288950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467344" y="3319272"/>
            <a:ext cx="128016" cy="128016"/>
          </a:xfrm>
          <a:prstGeom prst="ellipse">
            <a:avLst/>
          </a:prstGeom>
          <a:solidFill>
            <a:srgbClr val="CE2636"/>
          </a:solidFill>
          <a:ln w="889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070848" y="1417320"/>
            <a:ext cx="11704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770B1"/>
                </a:solidFill>
                <a:latin typeface="Microsoft YaHei"/>
              </a:rPr>
              <a:t>possible paths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9070848" y="1783080"/>
            <a:ext cx="640080" cy="0"/>
          </a:xfrm>
          <a:prstGeom prst="line">
            <a:avLst/>
          </a:prstGeom>
          <a:ln w="1524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070848" y="2066543"/>
            <a:ext cx="11704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CE2636"/>
                </a:solidFill>
                <a:latin typeface="Microsoft YaHei"/>
              </a:rPr>
              <a:t>most probable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070848" y="2432304"/>
            <a:ext cx="640080" cy="0"/>
          </a:xfrm>
          <a:prstGeom prst="line">
            <a:avLst/>
          </a:prstGeom>
          <a:ln w="3429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8842248" y="2980944"/>
            <a:ext cx="2148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034272" y="3182112"/>
            <a:ext cx="177393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CE2636"/>
                </a:solidFill>
                <a:latin typeface="Microsoft YaHei"/>
              </a:rPr>
              <a:t>O(2ᴹ)  →  O(M²)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6199632" y="3950208"/>
            <a:ext cx="0" cy="420624"/>
          </a:xfrm>
          <a:prstGeom prst="line">
            <a:avLst/>
          </a:prstGeom>
          <a:ln w="2540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5413248" y="4425696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9988"/>
                </a:solidFill>
                <a:latin typeface="Microsoft YaHei"/>
              </a:rPr>
              <a:t>Segment Merging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53712" y="4791456"/>
            <a:ext cx="347472" cy="384048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983480" y="4791456"/>
            <a:ext cx="347472" cy="384048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13248" y="4791456"/>
            <a:ext cx="347472" cy="384048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843016" y="4791456"/>
            <a:ext cx="347472" cy="384048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72784" y="4791456"/>
            <a:ext cx="347472" cy="384048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02552" y="4791456"/>
            <a:ext cx="347472" cy="384048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132320" y="4791456"/>
            <a:ext cx="347472" cy="384048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562088" y="4791456"/>
            <a:ext cx="347472" cy="384048"/>
          </a:xfrm>
          <a:prstGeom prst="rect">
            <a:avLst/>
          </a:prstGeom>
          <a:solidFill>
            <a:srgbClr val="E0E5E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092440" y="4974336"/>
            <a:ext cx="521208" cy="0"/>
          </a:xfrm>
          <a:prstGeom prst="line">
            <a:avLst/>
          </a:prstGeom>
          <a:ln w="2286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8759952" y="4626864"/>
            <a:ext cx="658368" cy="658368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15400" y="4828032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C1</a:t>
            </a:r>
          </a:p>
        </p:txBody>
      </p:sp>
      <p:sp>
        <p:nvSpPr>
          <p:cNvPr id="141" name="Oval 140"/>
          <p:cNvSpPr/>
          <p:nvPr/>
        </p:nvSpPr>
        <p:spPr>
          <a:xfrm>
            <a:off x="9582912" y="4626864"/>
            <a:ext cx="658368" cy="658368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38360" y="4828032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Train on all feasible paths; infer the best path; merge adjacent retained features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Sections 3.3–3.4 and Figure 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Less computation, stronger visual concepts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170432"/>
          <a:ext cx="33832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17320" y="950976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E2328"/>
                </a:solidFill>
                <a:latin typeface="Microsoft YaHei"/>
              </a:rPr>
              <a:t>Efficiency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60520" y="1170432"/>
          <a:ext cx="370332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00600" y="950976"/>
            <a:ext cx="23957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E2328"/>
                </a:solidFill>
                <a:latin typeface="Microsoft YaHei"/>
              </a:rPr>
              <a:t>11-benchmark VQA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051560"/>
            <a:ext cx="3520440" cy="3273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per_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353312"/>
            <a:ext cx="3200400" cy="1429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39327" y="3913632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E2328"/>
                </a:solidFill>
                <a:latin typeface="Microsoft YaHei"/>
              </a:rPr>
              <a:t>Instruction-conditioned sparsity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43984"/>
            <a:ext cx="1188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2770B1"/>
                </a:solidFill>
                <a:latin typeface="Microsoft YaHei"/>
              </a:rPr>
              <a:t>≈85%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1" y="460857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E2328"/>
                </a:solidFill>
                <a:latin typeface="Microsoft YaHei"/>
              </a:rPr>
              <a:t>fewer FLOPs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4443984"/>
            <a:ext cx="1188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CE2636"/>
                </a:solidFill>
                <a:latin typeface="Microsoft YaHei"/>
              </a:rPr>
              <a:t>60.8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460857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E2328"/>
                </a:solidFill>
                <a:latin typeface="Microsoft YaHei"/>
              </a:rPr>
              <a:t>best VQA Avg.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443984"/>
            <a:ext cx="1188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009988"/>
                </a:solidFill>
                <a:latin typeface="Microsoft YaHei"/>
              </a:rPr>
              <a:t>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460857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E2328"/>
                </a:solidFill>
                <a:latin typeface="Microsoft YaHei"/>
              </a:rPr>
              <a:t>dense perception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VCM compresses redundancy without collapsing the visual concepts needed by the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Figure 4, Table 1, Table 10 and Appendix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From token compression to vision concept modeling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49808" y="111556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5D6770"/>
                </a:solidFill>
                <a:latin typeface="Microsoft YaHei"/>
              </a:rPr>
              <a:t>Token-level LVLM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1700784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9888" y="1700784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64207" y="1700784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8528" y="1700784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2848" y="1700784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700784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700784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1965960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1965960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1965960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64207" y="1965960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8528" y="1965960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12848" y="1965960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7168" y="1965960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1965960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2231136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" y="2231136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2231136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64207" y="2231136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38528" y="2231136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2848" y="2231136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2231136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61488" y="2231136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" y="2496312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5568" y="2496312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89888" y="2496312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64207" y="2496312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38528" y="2496312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2848" y="2496312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87168" y="2496312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61488" y="2496312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2761488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5568" y="2761488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89888" y="2761488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64207" y="2761488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38528" y="2761488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12848" y="2761488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87168" y="2761488"/>
            <a:ext cx="237744" cy="219456"/>
          </a:xfrm>
          <a:prstGeom prst="rect">
            <a:avLst/>
          </a:prstGeom>
          <a:solidFill>
            <a:srgbClr val="3CB4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61488" y="2761488"/>
            <a:ext cx="237744" cy="219456"/>
          </a:xfrm>
          <a:prstGeom prst="rect">
            <a:avLst/>
          </a:prstGeom>
          <a:solidFill>
            <a:srgbClr val="2770B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3182112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fixed, dense, redundant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10128" y="2350008"/>
            <a:ext cx="1307592" cy="0"/>
          </a:xfrm>
          <a:prstGeom prst="line">
            <a:avLst/>
          </a:prstGeom>
          <a:ln w="34290">
            <a:solidFill>
              <a:srgbClr val="CE26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01568" y="1847088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CE2636"/>
                </a:solidFill>
                <a:latin typeface="Microsoft YaHei"/>
              </a:rPr>
              <a:t>instruction prior</a:t>
            </a:r>
          </a:p>
        </p:txBody>
      </p:sp>
      <p:sp>
        <p:nvSpPr>
          <p:cNvPr id="48" name="Oval 47"/>
          <p:cNvSpPr/>
          <p:nvPr/>
        </p:nvSpPr>
        <p:spPr>
          <a:xfrm>
            <a:off x="4782312" y="1481328"/>
            <a:ext cx="1755648" cy="1755648"/>
          </a:xfrm>
          <a:prstGeom prst="ellipse">
            <a:avLst/>
          </a:prstGeom>
          <a:solidFill>
            <a:srgbClr val="F4F9FD"/>
          </a:solidFill>
          <a:ln w="1905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84064" y="1865376"/>
            <a:ext cx="114300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7467C"/>
                </a:solidFill>
                <a:latin typeface="Microsoft YaHei"/>
              </a:rPr>
              <a:t>VCM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2624" y="2340864"/>
            <a:ext cx="13258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Microsoft YaHei"/>
              </a:rPr>
              <a:t>semantic alignment
+ dynamic paths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56832" y="2350008"/>
            <a:ext cx="1252728" cy="0"/>
          </a:xfrm>
          <a:prstGeom prst="line">
            <a:avLst/>
          </a:prstGeom>
          <a:ln w="34290">
            <a:solidFill>
              <a:srgbClr val="0099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138160" y="1792224"/>
            <a:ext cx="768096" cy="768096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202082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what</a:t>
            </a:r>
          </a:p>
        </p:txBody>
      </p:sp>
      <p:sp>
        <p:nvSpPr>
          <p:cNvPr id="54" name="Oval 53"/>
          <p:cNvSpPr/>
          <p:nvPr/>
        </p:nvSpPr>
        <p:spPr>
          <a:xfrm>
            <a:off x="9144000" y="1792224"/>
            <a:ext cx="768096" cy="768096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202082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where</a:t>
            </a:r>
          </a:p>
        </p:txBody>
      </p:sp>
      <p:sp>
        <p:nvSpPr>
          <p:cNvPr id="56" name="Oval 55"/>
          <p:cNvSpPr/>
          <p:nvPr/>
        </p:nvSpPr>
        <p:spPr>
          <a:xfrm>
            <a:off x="10149840" y="1792224"/>
            <a:ext cx="768096" cy="768096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86416" y="202082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how much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3182112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009988"/>
                </a:solidFill>
                <a:latin typeface="Microsoft YaHei"/>
              </a:rPr>
              <a:t>adaptive, sparse, spatially grounded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2960" y="3822191"/>
            <a:ext cx="10442448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24128" y="4078224"/>
            <a:ext cx="12344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300" b="1">
                <a:solidFill>
                  <a:srgbClr val="2770B1"/>
                </a:solidFill>
                <a:latin typeface="Microsoft YaHei"/>
              </a:rPr>
              <a:t>Contribution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432304" y="4233672"/>
            <a:ext cx="493776" cy="0"/>
          </a:xfrm>
          <a:prstGeom prst="line">
            <a:avLst/>
          </a:prstGeom>
          <a:ln w="2032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154680" y="4078224"/>
            <a:ext cx="7635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E2328"/>
                </a:solidFill>
                <a:latin typeface="Microsoft YaHei"/>
              </a:rPr>
              <a:t>Instruction-conditioned concept quantity + location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" y="4581144"/>
            <a:ext cx="12344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300" b="1">
                <a:solidFill>
                  <a:srgbClr val="009988"/>
                </a:solidFill>
                <a:latin typeface="Microsoft YaHei"/>
              </a:rPr>
              <a:t>Evidence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432304" y="4736592"/>
            <a:ext cx="493776" cy="0"/>
          </a:xfrm>
          <a:prstGeom prst="line">
            <a:avLst/>
          </a:prstGeom>
          <a:ln w="2032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154680" y="4581144"/>
            <a:ext cx="7635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Microsoft YaHei"/>
              </a:rPr>
              <a:t>≈85% fewer FLOPs; competitive VQA; stronger dense perception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5084064"/>
            <a:ext cx="12344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300" b="1">
                <a:solidFill>
                  <a:srgbClr val="CE2636"/>
                </a:solidFill>
                <a:latin typeface="Microsoft YaHei"/>
              </a:rPr>
              <a:t>Limitation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432304" y="5239512"/>
            <a:ext cx="493776" cy="0"/>
          </a:xfrm>
          <a:prstGeom prst="line">
            <a:avLst/>
          </a:prstGeom>
          <a:ln w="2032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54680" y="5084064"/>
            <a:ext cx="7635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Microsoft YaHei"/>
              </a:rPr>
              <a:t>keyword bias · coarse length prior · concept interpretability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8992" y="5632704"/>
            <a:ext cx="1001268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98448" y="5715000"/>
            <a:ext cx="95829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7467C"/>
                </a:solidFill>
                <a:latin typeface="Microsoft YaHei"/>
              </a:rPr>
              <a:t>Take-home: </a:t>
            </a:r>
            <a:r>
              <a:rPr sz="1600" b="1">
                <a:solidFill>
                  <a:srgbClr val="CE2636"/>
                </a:solidFill>
                <a:latin typeface="Microsoft YaHei"/>
              </a:rPr>
              <a:t>do not process everything; </a:t>
            </a:r>
            <a:r>
              <a:rPr sz="1600" b="1">
                <a:solidFill>
                  <a:srgbClr val="07467C"/>
                </a:solidFill>
                <a:latin typeface="Microsoft YaHei"/>
              </a:rPr>
              <a:t>select the concepts required by the instruction.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conclusion and limitations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VCM：7页精修论文汇报</dc:title>
  <dc:subject/>
  <dc:creator>Generated from Luo et al. (2025)</dc:creator>
  <cp:keywords/>
  <dc:description>Scientific diagrams and charts are native editable PowerPoint objects. Two qualitative evidence panels are cropped from the source paper.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