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figure01_title.svg" ContentType="image/svg+xml"/>
  <Override PartName="/ppt/media/figure02_problem.svg" ContentType="image/svg+xml"/>
  <Override PartName="/ppt/media/figure03_pretraining.svg" ContentType="image/svg+xml"/>
  <Override PartName="/ppt/media/figure04_thinking.svg" ContentType="image/svg+xml"/>
  <Override PartName="/ppt/media/figure05_rl.svg" ContentType="image/svg+xml"/>
  <Override PartName="/ppt/media/figure06_inference.svg" ContentType="image/svg+xml"/>
  <Override PartName="/ppt/media/figure07_flywheel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igure01_tit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igure02_problem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figure03_pretrainin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figure04_thinkin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figure05_rl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figure06_inferenc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figure07_flywheel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figure01_titl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095750" y="3562350"/>
            <a:ext cx="4000500" cy="19050"/>
          </a:xfrm>
          <a:prstGeom prst="rect">
            <a:avLst/>
          </a:prstGeom>
          <a:solidFill>
            <a:srgbClr val="5A8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38700" y="4972050"/>
            <a:ext cx="2514600" cy="400050"/>
          </a:xfrm>
          <a:prstGeom prst="roundRect">
            <a:avLst>
              <a:gd name="adj" fmla="val 50000"/>
            </a:avLst>
          </a:prstGeom>
          <a:noFill/>
          <a:ln w="17145">
            <a:solidFill>
              <a:srgbClr val="7FA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66900"/>
            <a:ext cx="12192000" cy="7620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4650" b="1">
                <a:solidFill>
                  <a:srgbClr val="FFFFFF"/>
                </a:solidFill>
                <a:latin typeface="Calibri"/>
              </a:rPr>
              <a:t>Hades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24150"/>
            <a:ext cx="12192000" cy="4572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2325" b="1">
                <a:solidFill>
                  <a:srgbClr val="BBD3EA"/>
                </a:solidFill>
                <a:latin typeface="Calibri"/>
              </a:rPr>
              <a:t>A Generalist Vision-Language-Action Model for Long-Horizon Real-Time GUI Game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10000"/>
            <a:ext cx="12192000" cy="3238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miHoYo Lumi · full author list in the paper's Contributions section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191000"/>
            <a:ext cx="12192000" cy="2857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00" b="0">
                <a:solidFill>
                  <a:srgbClr val="A9C6E2"/>
                </a:solidFill>
                <a:latin typeface="Calibri"/>
              </a:rPr>
              <a:t>Industrial-scale generalist agent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8700" y="4972050"/>
            <a:ext cx="2514600" cy="4000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75" b="1">
                <a:solidFill>
                  <a:srgbClr val="FFFFFF"/>
                </a:solidFill>
                <a:latin typeface="Calibri"/>
              </a:rPr>
              <a:t>Manuscript dated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2_problem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Commercial games expose the full agent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Pixels in, keyboard and mouse out — with </a:t>
            </a:r>
            <a:r>
              <a:rPr sz="2100" b="1">
                <a:solidFill>
                  <a:srgbClr val="C00000"/>
                </a:solidFill>
                <a:latin typeface="Calibri"/>
              </a:rPr>
              <a:t>hours of state</a:t>
            </a:r>
            <a:r>
              <a:rPr sz="2100" b="1">
                <a:solidFill>
                  <a:srgbClr val="004282"/>
                </a:solidFill>
                <a:latin typeface="Calibri"/>
              </a:rPr>
              <a:t> in between.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Introduction of the paper.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3_pretraining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Stage 1 — learn a universal device-level action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Compress 30 Hz control into tokens, then debias what the model learns from repetition.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2.1–2.5 and Figure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4_thinking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Stage 2 — think sparsely and remember across context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Routine control stays fast; decisions and memory appear only at </a:t>
            </a:r>
            <a:r>
              <a:rPr sz="2100" b="1">
                <a:solidFill>
                  <a:srgbClr val="C00000"/>
                </a:solidFill>
                <a:latin typeface="Calibri"/>
              </a:rPr>
              <a:t>critical moments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3.1–3.6 and Figure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5_rl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Stage 3 — TA-GRPO turns an hour-long rollout into learnable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Compact memory across segments and assign credit near the state changes that matter.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4.1–4.5 and Figure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6_inferenc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Deployment — stream actions while the model is still decoding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Streaming-vLLM overlaps generation with execution and reuses the moving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Sections 5.1–5.7 and Figure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7_flywheel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System view — data, policy, verifier, and infrastructure form one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The contribution is an industrial agent stack, not only a policy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miHoYo Lumi. Hades: A Generalist Vision-Language Action Foundation Model for Long-Horizon Real-Time GUI Game Agent. Manuscript,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